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44" r:id="rId3"/>
    <p:sldId id="554" r:id="rId4"/>
    <p:sldId id="1606" r:id="rId5"/>
    <p:sldId id="2288" r:id="rId6"/>
    <p:sldId id="2177" r:id="rId7"/>
    <p:sldId id="2531" r:id="rId8"/>
    <p:sldId id="2535" r:id="rId9"/>
    <p:sldId id="2536" r:id="rId10"/>
    <p:sldId id="2537" r:id="rId11"/>
    <p:sldId id="340" r:id="rId12"/>
    <p:sldId id="2538" r:id="rId13"/>
    <p:sldId id="2362" r:id="rId14"/>
    <p:sldId id="2534" r:id="rId15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2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B4E"/>
    <a:srgbClr val="E6E6E6"/>
    <a:srgbClr val="BD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1746" y="1026"/>
      </p:cViewPr>
      <p:guideLst>
        <p:guide orient="horz" pos="1570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D4A3340-C542-46E3-BB6B-1E3F28D53E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3EAA4AF-B0AE-42C7-9AD8-C74E868F58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8" b="1878"/>
          <a:stretch>
            <a:fillRect/>
          </a:stretch>
        </p:blipFill>
        <p:spPr>
          <a:xfrm>
            <a:off x="4916907" y="0"/>
            <a:ext cx="4227094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8" b="1878"/>
          <a:stretch>
            <a:fillRect/>
          </a:stretch>
        </p:blipFill>
        <p:spPr>
          <a:xfrm flipH="1">
            <a:off x="0" y="0"/>
            <a:ext cx="3112438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9144001" cy="5143500"/>
            <a:chOff x="-220064" y="0"/>
            <a:chExt cx="9144001" cy="51435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20"/>
            <a:stretch>
              <a:fillRect/>
            </a:stretch>
          </p:blipFill>
          <p:spPr>
            <a:xfrm flipH="1">
              <a:off x="7176018" y="0"/>
              <a:ext cx="1747919" cy="51435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20"/>
            <a:stretch>
              <a:fillRect/>
            </a:stretch>
          </p:blipFill>
          <p:spPr>
            <a:xfrm>
              <a:off x="-220064" y="0"/>
              <a:ext cx="1747919" cy="51435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31801" y="1019148"/>
            <a:ext cx="4127222" cy="2323378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584979" y="2180837"/>
            <a:ext cx="4127222" cy="2323378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647004" y="771526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4574540" y="2749894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2504263" y="771526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31799" y="2749894"/>
            <a:ext cx="2070276" cy="1982445"/>
          </a:xfrm>
          <a:custGeom>
            <a:avLst/>
            <a:gdLst>
              <a:gd name="connsiteX0" fmla="*/ 0 w 2070276"/>
              <a:gd name="connsiteY0" fmla="*/ 0 h 1982445"/>
              <a:gd name="connsiteX1" fmla="*/ 2070276 w 2070276"/>
              <a:gd name="connsiteY1" fmla="*/ 0 h 1982445"/>
              <a:gd name="connsiteX2" fmla="*/ 2070276 w 2070276"/>
              <a:gd name="connsiteY2" fmla="*/ 1982445 h 1982445"/>
              <a:gd name="connsiteX3" fmla="*/ 0 w 2070276"/>
              <a:gd name="connsiteY3" fmla="*/ 1982445 h 198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76" h="1982445">
                <a:moveTo>
                  <a:pt x="0" y="0"/>
                </a:moveTo>
                <a:lnTo>
                  <a:pt x="2070276" y="0"/>
                </a:lnTo>
                <a:lnTo>
                  <a:pt x="2070276" y="1982445"/>
                </a:lnTo>
                <a:lnTo>
                  <a:pt x="0" y="198244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31802" y="1146477"/>
            <a:ext cx="1907362" cy="2234675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556147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680492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804836" y="1146478"/>
            <a:ext cx="1907362" cy="2234674"/>
          </a:xfrm>
          <a:prstGeom prst="rect">
            <a:avLst/>
          </a:prstGeom>
          <a:solidFill>
            <a:schemeClr val="accent6"/>
          </a:solidFill>
        </p:spPr>
        <p:txBody>
          <a:bodyPr anchor="ctr" anchorCtr="1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160305" y="1022684"/>
            <a:ext cx="4578962" cy="3838546"/>
          </a:xfrm>
          <a:prstGeom prst="rect">
            <a:avLst/>
          </a:pr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206612"/>
            <a:ext cx="327340" cy="659656"/>
          </a:xfrm>
          <a:prstGeom prst="rect">
            <a:avLst/>
          </a:prstGeom>
          <a:solidFill>
            <a:srgbClr val="494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288290"/>
            <a:ext cx="5025390" cy="9664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u="sng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</a:rPr>
              <a:t>KR MANGALAM UNIVERSITY</a:t>
            </a:r>
            <a:endParaRPr lang="en-US" altLang="zh-CN" sz="2400" b="1" u="sng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760" y="1696085"/>
            <a:ext cx="5235575" cy="10782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+mn-ea"/>
              </a:rPr>
              <a:t>COMPUTER SCIENCE FUNDAMENTALS </a:t>
            </a:r>
            <a:endParaRPr lang="en-US" altLang="zh-CN" sz="2000" b="1" u="sng" dirty="0">
              <a:solidFill>
                <a:srgbClr val="FF0000"/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+mn-ea"/>
              </a:rPr>
              <a:t>AND CAREER PATHWAYS</a:t>
            </a:r>
            <a:endParaRPr lang="en-US" altLang="zh-CN" sz="2000" b="1" u="sng" dirty="0">
              <a:solidFill>
                <a:srgbClr val="FF0000"/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endParaRPr lang="en-US" altLang="zh-CN" sz="2000" b="1" u="sng" dirty="0">
              <a:solidFill>
                <a:srgbClr val="FF0000"/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5615" y="2774315"/>
            <a:ext cx="4586605" cy="1920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u="sng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Name :</a:t>
            </a:r>
            <a:r>
              <a:rPr lang="en-US" altLang="zh-CN" sz="1800" b="1" u="sng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 </a:t>
            </a:r>
            <a:r>
              <a:rPr lang="en-US" altLang="zh-CN" sz="1600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Shruti Dolare</a:t>
            </a:r>
            <a:endParaRPr lang="en-US" altLang="zh-CN" sz="1600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u="sng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Roll no:</a:t>
            </a:r>
            <a:r>
              <a:rPr lang="en-US" altLang="zh-CN" sz="1600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 2501730066</a:t>
            </a:r>
            <a:endParaRPr lang="en-US" altLang="zh-CN" sz="1600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 b="1" u="sng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Course Code:</a:t>
            </a:r>
            <a:r>
              <a:rPr lang="en-US" altLang="en-US" sz="1600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 ETCCCP105</a:t>
            </a:r>
            <a:endParaRPr lang="en-US" altLang="en-US" sz="1600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 b="1" u="sng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Domain: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AI/ML</a:t>
            </a:r>
            <a:endParaRPr lang="en-US" altLang="en-US" sz="1600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 b="1" u="sng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Aim:</a:t>
            </a:r>
            <a:r>
              <a:rPr lang="en-US" altLang="en-US" sz="1600" b="1" u="sng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ea typeface="Calibri" panose="020F0502020204030204" pitchFamily="34" charset="0"/>
                <a:cs typeface="Times New Roman" panose="02020603050405020304" charset="0"/>
                <a:sym typeface="Calibri" panose="020F0502020204030204" pitchFamily="34" charset="0"/>
              </a:rPr>
              <a:t>AI Engineer</a:t>
            </a:r>
            <a:endParaRPr lang="en-US" altLang="en-US" sz="1600" dirty="0"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菱形 20"/>
          <p:cNvSpPr/>
          <p:nvPr/>
        </p:nvSpPr>
        <p:spPr>
          <a:xfrm>
            <a:off x="823476" y="926432"/>
            <a:ext cx="3459880" cy="345988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28" name="文本框 5"/>
          <p:cNvSpPr txBox="1">
            <a:spLocks noChangeArrowheads="1"/>
          </p:cNvSpPr>
          <p:nvPr/>
        </p:nvSpPr>
        <p:spPr bwMode="auto">
          <a:xfrm>
            <a:off x="1283416" y="2056045"/>
            <a:ext cx="25158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INTRODUCTION</a:t>
            </a:r>
            <a:endParaRPr lang="en-US" altLang="zh-CN" sz="2800" b="1" dirty="0">
              <a:solidFill>
                <a:schemeClr val="bg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83368" y="2578113"/>
            <a:ext cx="2540096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WHAT IS AI-ML?</a:t>
            </a:r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362986" y="2550045"/>
            <a:ext cx="3808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>
            <p:custDataLst>
              <p:tags r:id="rId1"/>
            </p:custDataLst>
          </p:nvPr>
        </p:nvSpPr>
        <p:spPr>
          <a:xfrm>
            <a:off x="5542148" y="1289715"/>
            <a:ext cx="298719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Systems that perform tasks requiring human intelligence.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Calibri" panose="020F050202020403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1" name="矩形 70"/>
          <p:cNvSpPr/>
          <p:nvPr>
            <p:custDataLst>
              <p:tags r:id="rId2"/>
            </p:custDataLst>
          </p:nvPr>
        </p:nvSpPr>
        <p:spPr>
          <a:xfrm>
            <a:off x="5519892" y="1040908"/>
            <a:ext cx="25869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u="sng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ARTIFICIAL INTELLIGENCE</a:t>
            </a:r>
            <a:endParaRPr lang="en-US" altLang="zh-CN" sz="1800" b="1" u="sng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2" name="菱形 81"/>
          <p:cNvSpPr/>
          <p:nvPr>
            <p:custDataLst>
              <p:tags r:id="rId3"/>
            </p:custDataLst>
          </p:nvPr>
        </p:nvSpPr>
        <p:spPr>
          <a:xfrm>
            <a:off x="4658368" y="1078893"/>
            <a:ext cx="724002" cy="7253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Calibri" panose="020F0502020204030204" pitchFamily="34" charset="0"/>
                <a:sym typeface="+mn-lt"/>
              </a:rPr>
              <a:t>01</a:t>
            </a:r>
            <a:endParaRPr lang="zh-CN" altLang="en-US" dirty="0">
              <a:ea typeface="Calibri" panose="020F0502020204030204" pitchFamily="34" charset="0"/>
              <a:sym typeface="+mn-lt"/>
            </a:endParaRPr>
          </a:p>
        </p:txBody>
      </p:sp>
      <p:sp>
        <p:nvSpPr>
          <p:cNvPr id="87" name="矩形 86"/>
          <p:cNvSpPr/>
          <p:nvPr>
            <p:custDataLst>
              <p:tags r:id="rId4"/>
            </p:custDataLst>
          </p:nvPr>
        </p:nvSpPr>
        <p:spPr>
          <a:xfrm>
            <a:off x="5588503" y="2470567"/>
            <a:ext cx="2987190" cy="968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Subset of AI focused on learning from data and improving over time.</a:t>
            </a:r>
            <a:endParaRPr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.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8" name="矩形 87"/>
          <p:cNvSpPr/>
          <p:nvPr>
            <p:custDataLst>
              <p:tags r:id="rId5"/>
            </p:custDataLst>
          </p:nvPr>
        </p:nvSpPr>
        <p:spPr>
          <a:xfrm>
            <a:off x="5588472" y="2242080"/>
            <a:ext cx="192087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u="sng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MACHINE LEARNING</a:t>
            </a:r>
            <a:endParaRPr lang="en-US" altLang="zh-CN" sz="1600" b="1" u="sng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0" name="菱形 89"/>
          <p:cNvSpPr/>
          <p:nvPr>
            <p:custDataLst>
              <p:tags r:id="rId6"/>
            </p:custDataLst>
          </p:nvPr>
        </p:nvSpPr>
        <p:spPr>
          <a:xfrm>
            <a:off x="4702818" y="2128935"/>
            <a:ext cx="724002" cy="7253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lt1"/>
                </a:solidFill>
                <a:ea typeface="Calibri" panose="020F0502020204030204" pitchFamily="34" charset="0"/>
                <a:sym typeface="+mn-lt"/>
              </a:rPr>
              <a:t>02</a:t>
            </a:r>
            <a:endParaRPr lang="zh-CN" altLang="en-US" dirty="0">
              <a:solidFill>
                <a:schemeClr val="lt1"/>
              </a:solidFill>
              <a:ea typeface="Calibri" panose="020F0502020204030204" pitchFamily="34" charset="0"/>
              <a:sym typeface="+mn-lt"/>
            </a:endParaRPr>
          </a:p>
        </p:txBody>
      </p:sp>
      <p:sp>
        <p:nvSpPr>
          <p:cNvPr id="92" name="矩形 91"/>
          <p:cNvSpPr/>
          <p:nvPr>
            <p:custDataLst>
              <p:tags r:id="rId7"/>
            </p:custDataLst>
          </p:nvPr>
        </p:nvSpPr>
        <p:spPr>
          <a:xfrm>
            <a:off x="5519923" y="3511084"/>
            <a:ext cx="298719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sz="1400">
                <a:sym typeface="+mn-ea"/>
              </a:rPr>
              <a:t>algorithms, data structures, probability, linear algebra</a:t>
            </a:r>
            <a:r>
              <a:rPr sz="1200">
                <a:sym typeface="+mn-ea"/>
              </a:rPr>
              <a:t>.</a:t>
            </a:r>
            <a:endParaRPr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3" name="矩形 92"/>
          <p:cNvSpPr/>
          <p:nvPr>
            <p:custDataLst>
              <p:tags r:id="rId8"/>
            </p:custDataLst>
          </p:nvPr>
        </p:nvSpPr>
        <p:spPr>
          <a:xfrm>
            <a:off x="5542117" y="3280692"/>
            <a:ext cx="31311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600" b="1" u="sng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RELEVANCE TO CS FUNDAMENTALS</a:t>
            </a:r>
            <a:r>
              <a:rPr lang="zh-CN" altLang="en-US" sz="16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
</a:t>
            </a:r>
            <a:endParaRPr lang="zh-CN" altLang="en-US" sz="16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5" name="菱形 94"/>
          <p:cNvSpPr/>
          <p:nvPr>
            <p:custDataLst>
              <p:tags r:id="rId9"/>
            </p:custDataLst>
          </p:nvPr>
        </p:nvSpPr>
        <p:spPr>
          <a:xfrm>
            <a:off x="4745363" y="3178977"/>
            <a:ext cx="724002" cy="725330"/>
          </a:xfrm>
          <a:prstGeom prst="diamond">
            <a:avLst/>
          </a:prstGeom>
          <a:solidFill>
            <a:srgbClr val="494B4E"/>
          </a:solidFill>
          <a:ln>
            <a:noFill/>
          </a:ln>
          <a:effectLst>
            <a:outerShdw blurRad="431800" sx="104000" sy="1040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lt1"/>
                </a:solidFill>
                <a:ea typeface="Calibri" panose="020F0502020204030204" pitchFamily="34" charset="0"/>
                <a:sym typeface="+mn-lt"/>
              </a:rPr>
              <a:t>03</a:t>
            </a:r>
            <a:endParaRPr lang="zh-CN" altLang="en-US" dirty="0">
              <a:solidFill>
                <a:schemeClr val="lt1"/>
              </a:solidFill>
              <a:ea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3"/>
          <p:cNvSpPr>
            <a:spLocks noChangeArrowheads="1"/>
          </p:cNvSpPr>
          <p:nvPr/>
        </p:nvSpPr>
        <p:spPr bwMode="auto">
          <a:xfrm>
            <a:off x="4947775" y="1207914"/>
            <a:ext cx="896620" cy="51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Enter title
</a:t>
            </a:r>
            <a:endParaRPr lang="en-US" altLang="zh-CN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94"/>
          <p:cNvSpPr txBox="1">
            <a:spLocks noChangeArrowheads="1"/>
          </p:cNvSpPr>
          <p:nvPr/>
        </p:nvSpPr>
        <p:spPr bwMode="auto">
          <a:xfrm>
            <a:off x="4947774" y="1528682"/>
            <a:ext cx="2843135" cy="52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This Template Is Designed By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Zuo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An,It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Will Help You Make You Report Easy And Fast.</a:t>
            </a:r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039879" y="1537130"/>
            <a:ext cx="216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3"/>
          <p:cNvSpPr>
            <a:spLocks noChangeArrowheads="1"/>
          </p:cNvSpPr>
          <p:nvPr/>
        </p:nvSpPr>
        <p:spPr bwMode="auto">
          <a:xfrm>
            <a:off x="3317667" y="3541810"/>
            <a:ext cx="896620" cy="51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zh-CN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Enter title
</a:t>
            </a:r>
            <a:endParaRPr lang="en-US" altLang="zh-CN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TextBox 94"/>
          <p:cNvSpPr txBox="1">
            <a:spLocks noChangeArrowheads="1"/>
          </p:cNvSpPr>
          <p:nvPr/>
        </p:nvSpPr>
        <p:spPr bwMode="auto">
          <a:xfrm>
            <a:off x="1371152" y="3862578"/>
            <a:ext cx="2843135" cy="52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This Template Is Designed By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Zuo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An,It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Will Help You Make You Report Easy And Fast.</a:t>
            </a:r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906182" y="3871026"/>
            <a:ext cx="216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占位符 17" descr="C:/Users/manoh/OneDrive/Desktop/Screenshot 2025-11-10 113919.pngScreenshot 2025-11-10 113919"/>
          <p:cNvPicPr>
            <a:picLocks noGrp="1" noChangeAspect="1"/>
          </p:cNvPicPr>
          <p:nvPr>
            <p:ph type="pic" sz="quarter" idx="11"/>
          </p:nvPr>
        </p:nvPicPr>
        <p:blipFill>
          <a:blip r:embed="rId1"/>
          <a:srcRect t="174" b="174"/>
          <a:stretch>
            <a:fillRect/>
          </a:stretch>
        </p:blipFill>
        <p:spPr>
          <a:xfrm>
            <a:off x="0" y="770255"/>
            <a:ext cx="9143365" cy="4372610"/>
          </a:xfrm>
        </p:spPr>
      </p:pic>
      <p:sp>
        <p:nvSpPr>
          <p:cNvPr id="15" name="Rectangle 93"/>
          <p:cNvSpPr>
            <a:spLocks noChangeArrowheads="1"/>
          </p:cNvSpPr>
          <p:nvPr/>
        </p:nvSpPr>
        <p:spPr bwMode="auto">
          <a:xfrm>
            <a:off x="3397250" y="103505"/>
            <a:ext cx="252666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Overview </a:t>
            </a:r>
            <a:r>
              <a:rPr lang="zh-CN" altLang="en-US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b="1" u="sng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44244" y="770274"/>
            <a:ext cx="3273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3"/>
          <p:cNvSpPr>
            <a:spLocks noChangeArrowheads="1"/>
          </p:cNvSpPr>
          <p:nvPr/>
        </p:nvSpPr>
        <p:spPr bwMode="auto">
          <a:xfrm>
            <a:off x="5764043" y="1313800"/>
            <a:ext cx="896620" cy="51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Enter title
</a:t>
            </a:r>
            <a:endParaRPr lang="en-US" altLang="zh-CN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TextBox 94"/>
          <p:cNvSpPr txBox="1">
            <a:spLocks noChangeArrowheads="1"/>
          </p:cNvSpPr>
          <p:nvPr/>
        </p:nvSpPr>
        <p:spPr bwMode="auto">
          <a:xfrm>
            <a:off x="5623560" y="1411605"/>
            <a:ext cx="3247390" cy="268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sz="1600" b="1" u="sng">
                <a:sym typeface="+mn-ea"/>
              </a:rPr>
              <a:t>Career roles and earning potential</a:t>
            </a:r>
            <a:endParaRPr sz="1600" b="1" u="sng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sz="1200">
              <a:sym typeface="+mn-ea"/>
            </a:endParaRPr>
          </a:p>
          <a:p>
            <a:pPr marL="171450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accent2"/>
                </a:solidFill>
                <a:sym typeface="+mn-ea"/>
              </a:rPr>
              <a:t>Common roles: ML Engineer, Data Scientist, Research Scientist, MLOps, AI Product Manager.</a:t>
            </a:r>
            <a:endParaRPr sz="1200">
              <a:solidFill>
                <a:schemeClr val="accent2"/>
              </a:solidFill>
              <a:sym typeface="+mn-ea"/>
            </a:endParaRPr>
          </a:p>
          <a:p>
            <a:pPr marL="171450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accent2"/>
                </a:solidFill>
                <a:sym typeface="+mn-ea"/>
              </a:rPr>
              <a:t>Salary outlook: among the top-paying CS specializations (entry to senior levels).</a:t>
            </a:r>
            <a:endParaRPr sz="1200">
              <a:solidFill>
                <a:schemeClr val="accent2"/>
              </a:solidFill>
              <a:sym typeface="+mn-ea"/>
            </a:endParaRPr>
          </a:p>
          <a:p>
            <a:pPr marL="171450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accent2"/>
                </a:solidFill>
                <a:sym typeface="+mn-ea"/>
              </a:rPr>
              <a:t>Diverse industries: tech, healthcare, automotive (autonomy), finance, startups.</a:t>
            </a:r>
            <a:endParaRPr sz="1200">
              <a:solidFill>
                <a:schemeClr val="accent2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.</a:t>
            </a:r>
            <a:endParaRPr lang="en-US" altLang="zh-C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856147" y="1643016"/>
            <a:ext cx="216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93"/>
          <p:cNvSpPr>
            <a:spLocks noChangeArrowheads="1"/>
          </p:cNvSpPr>
          <p:nvPr/>
        </p:nvSpPr>
        <p:spPr bwMode="auto">
          <a:xfrm>
            <a:off x="1429876" y="1313800"/>
            <a:ext cx="3208655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1400">
                <a:sym typeface="+mn-ea"/>
              </a:rPr>
              <a:t>Why AI/ML shows strong growth:</a:t>
            </a:r>
            <a:endParaRPr sz="1400">
              <a:sym typeface="+mn-ea"/>
            </a:endParaRPr>
          </a:p>
          <a:p>
            <a:pPr algn="l" eaLnBrk="1" hangingPunct="1"/>
            <a:r>
              <a:rPr lang="zh-CN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en-US" altLang="zh-CN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94"/>
          <p:cNvSpPr txBox="1">
            <a:spLocks noChangeArrowheads="1"/>
          </p:cNvSpPr>
          <p:nvPr/>
        </p:nvSpPr>
        <p:spPr bwMode="auto">
          <a:xfrm>
            <a:off x="803275" y="1844040"/>
            <a:ext cx="3595370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lvl="1" algn="l">
              <a:buFont typeface="Arial" panose="020B0604020202020204" pitchFamily="34" charset="0"/>
              <a:buChar char="•"/>
            </a:pPr>
            <a:r>
              <a:rPr sz="1400">
                <a:solidFill>
                  <a:schemeClr val="accent2"/>
                </a:solidFill>
                <a:sym typeface="+mn-ea"/>
              </a:rPr>
              <a:t>Rapid industry adoption across healthcare, finance, retail, and more.</a:t>
            </a:r>
            <a:endParaRPr sz="1400">
              <a:solidFill>
                <a:schemeClr val="accent2"/>
              </a:solidFill>
              <a:sym typeface="+mn-ea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sz="1400">
                <a:solidFill>
                  <a:schemeClr val="accent2"/>
                </a:solidFill>
                <a:sym typeface="+mn-ea"/>
              </a:rPr>
              <a:t> Strong research pipeline and continuous innovation (models, transfer learning).</a:t>
            </a:r>
            <a:endParaRPr sz="1400">
              <a:solidFill>
                <a:schemeClr val="accent2"/>
              </a:solidFill>
              <a:sym typeface="+mn-ea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sz="1400">
                <a:solidFill>
                  <a:schemeClr val="accent2"/>
                </a:solidFill>
                <a:sym typeface="+mn-ea"/>
              </a:rPr>
              <a:t> </a:t>
            </a:r>
            <a:r>
              <a:rPr sz="1400" b="1">
                <a:solidFill>
                  <a:schemeClr val="accent2"/>
                </a:solidFill>
                <a:sym typeface="+mn-ea"/>
              </a:rPr>
              <a:t>Stability:</a:t>
            </a:r>
            <a:r>
              <a:rPr sz="1400">
                <a:solidFill>
                  <a:schemeClr val="accent2"/>
                </a:solidFill>
                <a:sym typeface="+mn-ea"/>
              </a:rPr>
              <a:t> demand for ML engineers, data scientists, and MLOps remains high</a:t>
            </a:r>
            <a:r>
              <a:rPr sz="1200">
                <a:solidFill>
                  <a:schemeClr val="accent2"/>
                </a:solidFill>
                <a:sym typeface="+mn-ea"/>
              </a:rPr>
              <a:t>.</a:t>
            </a:r>
            <a:endParaRPr lang="en-US" altLang="zh-CN" sz="12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21980" y="1643016"/>
            <a:ext cx="216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94962" y="1411443"/>
            <a:ext cx="573881" cy="573881"/>
            <a:chOff x="1750089" y="1478535"/>
            <a:chExt cx="573881" cy="573881"/>
          </a:xfrm>
        </p:grpSpPr>
        <p:sp>
          <p:nvSpPr>
            <p:cNvPr id="9" name="Oval 30"/>
            <p:cNvSpPr/>
            <p:nvPr/>
          </p:nvSpPr>
          <p:spPr bwMode="auto">
            <a:xfrm>
              <a:off x="1750089" y="1478535"/>
              <a:ext cx="573881" cy="5738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>
                <a:defRPr/>
              </a:pPr>
              <a:endParaRPr lang="en-US" sz="50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grpSp>
          <p:nvGrpSpPr>
            <p:cNvPr id="10" name="Group 47"/>
            <p:cNvGrpSpPr/>
            <p:nvPr/>
          </p:nvGrpSpPr>
          <p:grpSpPr>
            <a:xfrm>
              <a:off x="1911122" y="1593669"/>
              <a:ext cx="251816" cy="368186"/>
              <a:chOff x="527333" y="1217552"/>
              <a:chExt cx="175409" cy="256405"/>
            </a:xfrm>
            <a:solidFill>
              <a:schemeClr val="bg1"/>
            </a:solidFill>
          </p:grpSpPr>
          <p:sp>
            <p:nvSpPr>
              <p:cNvPr id="11" name="Freeform 79"/>
              <p:cNvSpPr>
                <a:spLocks noEditPoints="1"/>
              </p:cNvSpPr>
              <p:nvPr/>
            </p:nvSpPr>
            <p:spPr bwMode="auto">
              <a:xfrm>
                <a:off x="527333" y="1217552"/>
                <a:ext cx="175409" cy="256405"/>
              </a:xfrm>
              <a:custGeom>
                <a:avLst/>
                <a:gdLst>
                  <a:gd name="T0" fmla="*/ 80 w 160"/>
                  <a:gd name="T1" fmla="*/ 0 h 234"/>
                  <a:gd name="T2" fmla="*/ 0 w 160"/>
                  <a:gd name="T3" fmla="*/ 81 h 234"/>
                  <a:gd name="T4" fmla="*/ 36 w 160"/>
                  <a:gd name="T5" fmla="*/ 169 h 234"/>
                  <a:gd name="T6" fmla="*/ 80 w 160"/>
                  <a:gd name="T7" fmla="*/ 234 h 234"/>
                  <a:gd name="T8" fmla="*/ 123 w 160"/>
                  <a:gd name="T9" fmla="*/ 169 h 234"/>
                  <a:gd name="T10" fmla="*/ 160 w 160"/>
                  <a:gd name="T11" fmla="*/ 81 h 234"/>
                  <a:gd name="T12" fmla="*/ 80 w 160"/>
                  <a:gd name="T13" fmla="*/ 0 h 234"/>
                  <a:gd name="T14" fmla="*/ 99 w 160"/>
                  <a:gd name="T15" fmla="*/ 199 h 234"/>
                  <a:gd name="T16" fmla="*/ 63 w 160"/>
                  <a:gd name="T17" fmla="*/ 203 h 234"/>
                  <a:gd name="T18" fmla="*/ 58 w 160"/>
                  <a:gd name="T19" fmla="*/ 190 h 234"/>
                  <a:gd name="T20" fmla="*/ 58 w 160"/>
                  <a:gd name="T21" fmla="*/ 189 h 234"/>
                  <a:gd name="T22" fmla="*/ 103 w 160"/>
                  <a:gd name="T23" fmla="*/ 184 h 234"/>
                  <a:gd name="T24" fmla="*/ 101 w 160"/>
                  <a:gd name="T25" fmla="*/ 190 h 234"/>
                  <a:gd name="T26" fmla="*/ 99 w 160"/>
                  <a:gd name="T27" fmla="*/ 199 h 234"/>
                  <a:gd name="T28" fmla="*/ 56 w 160"/>
                  <a:gd name="T29" fmla="*/ 182 h 234"/>
                  <a:gd name="T30" fmla="*/ 52 w 160"/>
                  <a:gd name="T31" fmla="*/ 168 h 234"/>
                  <a:gd name="T32" fmla="*/ 108 w 160"/>
                  <a:gd name="T33" fmla="*/ 168 h 234"/>
                  <a:gd name="T34" fmla="*/ 106 w 160"/>
                  <a:gd name="T35" fmla="*/ 176 h 234"/>
                  <a:gd name="T36" fmla="*/ 56 w 160"/>
                  <a:gd name="T37" fmla="*/ 182 h 234"/>
                  <a:gd name="T38" fmla="*/ 80 w 160"/>
                  <a:gd name="T39" fmla="*/ 220 h 234"/>
                  <a:gd name="T40" fmla="*/ 65 w 160"/>
                  <a:gd name="T41" fmla="*/ 210 h 234"/>
                  <a:gd name="T42" fmla="*/ 96 w 160"/>
                  <a:gd name="T43" fmla="*/ 207 h 234"/>
                  <a:gd name="T44" fmla="*/ 80 w 160"/>
                  <a:gd name="T45" fmla="*/ 220 h 234"/>
                  <a:gd name="T46" fmla="*/ 114 w 160"/>
                  <a:gd name="T47" fmla="*/ 154 h 234"/>
                  <a:gd name="T48" fmla="*/ 46 w 160"/>
                  <a:gd name="T49" fmla="*/ 154 h 234"/>
                  <a:gd name="T50" fmla="*/ 34 w 160"/>
                  <a:gd name="T51" fmla="*/ 130 h 234"/>
                  <a:gd name="T52" fmla="*/ 14 w 160"/>
                  <a:gd name="T53" fmla="*/ 81 h 234"/>
                  <a:gd name="T54" fmla="*/ 80 w 160"/>
                  <a:gd name="T55" fmla="*/ 15 h 234"/>
                  <a:gd name="T56" fmla="*/ 146 w 160"/>
                  <a:gd name="T57" fmla="*/ 81 h 234"/>
                  <a:gd name="T58" fmla="*/ 126 w 160"/>
                  <a:gd name="T59" fmla="*/ 130 h 234"/>
                  <a:gd name="T60" fmla="*/ 114 w 160"/>
                  <a:gd name="T61" fmla="*/ 15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60" h="234">
                    <a:moveTo>
                      <a:pt x="80" y="0"/>
                    </a:moveTo>
                    <a:cubicBezTo>
                      <a:pt x="35" y="0"/>
                      <a:pt x="0" y="36"/>
                      <a:pt x="0" y="81"/>
                    </a:cubicBezTo>
                    <a:cubicBezTo>
                      <a:pt x="0" y="110"/>
                      <a:pt x="26" y="141"/>
                      <a:pt x="36" y="169"/>
                    </a:cubicBezTo>
                    <a:cubicBezTo>
                      <a:pt x="51" y="210"/>
                      <a:pt x="49" y="234"/>
                      <a:pt x="80" y="234"/>
                    </a:cubicBezTo>
                    <a:cubicBezTo>
                      <a:pt x="111" y="234"/>
                      <a:pt x="109" y="210"/>
                      <a:pt x="123" y="169"/>
                    </a:cubicBezTo>
                    <a:cubicBezTo>
                      <a:pt x="133" y="142"/>
                      <a:pt x="160" y="110"/>
                      <a:pt x="160" y="81"/>
                    </a:cubicBezTo>
                    <a:cubicBezTo>
                      <a:pt x="160" y="36"/>
                      <a:pt x="124" y="0"/>
                      <a:pt x="80" y="0"/>
                    </a:cubicBezTo>
                    <a:close/>
                    <a:moveTo>
                      <a:pt x="99" y="199"/>
                    </a:moveTo>
                    <a:cubicBezTo>
                      <a:pt x="63" y="203"/>
                      <a:pt x="63" y="203"/>
                      <a:pt x="63" y="203"/>
                    </a:cubicBezTo>
                    <a:cubicBezTo>
                      <a:pt x="61" y="200"/>
                      <a:pt x="60" y="195"/>
                      <a:pt x="58" y="190"/>
                    </a:cubicBezTo>
                    <a:cubicBezTo>
                      <a:pt x="58" y="190"/>
                      <a:pt x="58" y="189"/>
                      <a:pt x="58" y="189"/>
                    </a:cubicBezTo>
                    <a:cubicBezTo>
                      <a:pt x="103" y="184"/>
                      <a:pt x="103" y="184"/>
                      <a:pt x="103" y="184"/>
                    </a:cubicBezTo>
                    <a:cubicBezTo>
                      <a:pt x="103" y="186"/>
                      <a:pt x="102" y="188"/>
                      <a:pt x="101" y="190"/>
                    </a:cubicBezTo>
                    <a:cubicBezTo>
                      <a:pt x="100" y="193"/>
                      <a:pt x="100" y="196"/>
                      <a:pt x="99" y="199"/>
                    </a:cubicBezTo>
                    <a:close/>
                    <a:moveTo>
                      <a:pt x="56" y="182"/>
                    </a:moveTo>
                    <a:cubicBezTo>
                      <a:pt x="55" y="178"/>
                      <a:pt x="53" y="173"/>
                      <a:pt x="52" y="168"/>
                    </a:cubicBezTo>
                    <a:cubicBezTo>
                      <a:pt x="108" y="168"/>
                      <a:pt x="108" y="168"/>
                      <a:pt x="108" y="168"/>
                    </a:cubicBezTo>
                    <a:cubicBezTo>
                      <a:pt x="107" y="171"/>
                      <a:pt x="106" y="174"/>
                      <a:pt x="106" y="176"/>
                    </a:cubicBezTo>
                    <a:lnTo>
                      <a:pt x="56" y="182"/>
                    </a:lnTo>
                    <a:close/>
                    <a:moveTo>
                      <a:pt x="80" y="220"/>
                    </a:moveTo>
                    <a:cubicBezTo>
                      <a:pt x="72" y="220"/>
                      <a:pt x="69" y="219"/>
                      <a:pt x="65" y="210"/>
                    </a:cubicBezTo>
                    <a:cubicBezTo>
                      <a:pt x="96" y="207"/>
                      <a:pt x="96" y="207"/>
                      <a:pt x="96" y="207"/>
                    </a:cubicBezTo>
                    <a:cubicBezTo>
                      <a:pt x="92" y="219"/>
                      <a:pt x="88" y="220"/>
                      <a:pt x="80" y="220"/>
                    </a:cubicBezTo>
                    <a:close/>
                    <a:moveTo>
                      <a:pt x="114" y="154"/>
                    </a:moveTo>
                    <a:cubicBezTo>
                      <a:pt x="46" y="154"/>
                      <a:pt x="46" y="154"/>
                      <a:pt x="46" y="154"/>
                    </a:cubicBezTo>
                    <a:cubicBezTo>
                      <a:pt x="42" y="146"/>
                      <a:pt x="38" y="138"/>
                      <a:pt x="34" y="130"/>
                    </a:cubicBezTo>
                    <a:cubicBezTo>
                      <a:pt x="24" y="113"/>
                      <a:pt x="14" y="96"/>
                      <a:pt x="14" y="81"/>
                    </a:cubicBezTo>
                    <a:cubicBezTo>
                      <a:pt x="14" y="45"/>
                      <a:pt x="44" y="15"/>
                      <a:pt x="80" y="15"/>
                    </a:cubicBezTo>
                    <a:cubicBezTo>
                      <a:pt x="116" y="15"/>
                      <a:pt x="146" y="45"/>
                      <a:pt x="146" y="81"/>
                    </a:cubicBezTo>
                    <a:cubicBezTo>
                      <a:pt x="146" y="96"/>
                      <a:pt x="136" y="113"/>
                      <a:pt x="126" y="130"/>
                    </a:cubicBezTo>
                    <a:cubicBezTo>
                      <a:pt x="122" y="138"/>
                      <a:pt x="118" y="146"/>
                      <a:pt x="114" y="1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" name="Freeform 80"/>
              <p:cNvSpPr/>
              <p:nvPr/>
            </p:nvSpPr>
            <p:spPr bwMode="auto">
              <a:xfrm>
                <a:off x="566675" y="1258276"/>
                <a:ext cx="52762" cy="51373"/>
              </a:xfrm>
              <a:custGeom>
                <a:avLst/>
                <a:gdLst>
                  <a:gd name="T0" fmla="*/ 44 w 48"/>
                  <a:gd name="T1" fmla="*/ 0 h 47"/>
                  <a:gd name="T2" fmla="*/ 0 w 48"/>
                  <a:gd name="T3" fmla="*/ 44 h 47"/>
                  <a:gd name="T4" fmla="*/ 4 w 48"/>
                  <a:gd name="T5" fmla="*/ 47 h 47"/>
                  <a:gd name="T6" fmla="*/ 7 w 48"/>
                  <a:gd name="T7" fmla="*/ 44 h 47"/>
                  <a:gd name="T8" fmla="*/ 44 w 48"/>
                  <a:gd name="T9" fmla="*/ 7 h 47"/>
                  <a:gd name="T10" fmla="*/ 48 w 48"/>
                  <a:gd name="T11" fmla="*/ 4 h 47"/>
                  <a:gd name="T12" fmla="*/ 44 w 48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7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46"/>
                      <a:pt x="2" y="47"/>
                      <a:pt x="4" y="47"/>
                    </a:cubicBezTo>
                    <a:cubicBezTo>
                      <a:pt x="6" y="47"/>
                      <a:pt x="7" y="46"/>
                      <a:pt x="7" y="44"/>
                    </a:cubicBezTo>
                    <a:cubicBezTo>
                      <a:pt x="7" y="24"/>
                      <a:pt x="24" y="7"/>
                      <a:pt x="44" y="7"/>
                    </a:cubicBezTo>
                    <a:cubicBezTo>
                      <a:pt x="46" y="7"/>
                      <a:pt x="48" y="6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5049918" y="1411732"/>
            <a:ext cx="573881" cy="573881"/>
            <a:chOff x="6726665" y="1478535"/>
            <a:chExt cx="573881" cy="573881"/>
          </a:xfrm>
        </p:grpSpPr>
        <p:sp>
          <p:nvSpPr>
            <p:cNvPr id="14" name="Oval 30"/>
            <p:cNvSpPr/>
            <p:nvPr/>
          </p:nvSpPr>
          <p:spPr bwMode="auto">
            <a:xfrm>
              <a:off x="6726665" y="1478535"/>
              <a:ext cx="573881" cy="57388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>
                <a:defRPr/>
              </a:pPr>
              <a:endParaRPr lang="en-US" sz="50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5" name="Freeform 429"/>
            <p:cNvSpPr>
              <a:spLocks noChangeArrowheads="1"/>
            </p:cNvSpPr>
            <p:nvPr/>
          </p:nvSpPr>
          <p:spPr bwMode="auto">
            <a:xfrm>
              <a:off x="6866909" y="1619794"/>
              <a:ext cx="293392" cy="291362"/>
            </a:xfrm>
            <a:custGeom>
              <a:avLst/>
              <a:gdLst>
                <a:gd name="T0" fmla="*/ 1162 w 1230"/>
                <a:gd name="T1" fmla="*/ 383 h 1221"/>
                <a:gd name="T2" fmla="*/ 1112 w 1230"/>
                <a:gd name="T3" fmla="*/ 433 h 1221"/>
                <a:gd name="T4" fmla="*/ 794 w 1230"/>
                <a:gd name="T5" fmla="*/ 116 h 1221"/>
                <a:gd name="T6" fmla="*/ 844 w 1230"/>
                <a:gd name="T7" fmla="*/ 57 h 1221"/>
                <a:gd name="T8" fmla="*/ 1061 w 1230"/>
                <a:gd name="T9" fmla="*/ 57 h 1221"/>
                <a:gd name="T10" fmla="*/ 1162 w 1230"/>
                <a:gd name="T11" fmla="*/ 166 h 1221"/>
                <a:gd name="T12" fmla="*/ 1162 w 1230"/>
                <a:gd name="T13" fmla="*/ 383 h 1221"/>
                <a:gd name="T14" fmla="*/ 418 w 1230"/>
                <a:gd name="T15" fmla="*/ 1019 h 1221"/>
                <a:gd name="T16" fmla="*/ 418 w 1230"/>
                <a:gd name="T17" fmla="*/ 1077 h 1221"/>
                <a:gd name="T18" fmla="*/ 468 w 1230"/>
                <a:gd name="T19" fmla="*/ 1077 h 1221"/>
                <a:gd name="T20" fmla="*/ 1061 w 1230"/>
                <a:gd name="T21" fmla="*/ 484 h 1221"/>
                <a:gd name="T22" fmla="*/ 1003 w 1230"/>
                <a:gd name="T23" fmla="*/ 433 h 1221"/>
                <a:gd name="T24" fmla="*/ 418 w 1230"/>
                <a:gd name="T25" fmla="*/ 1019 h 1221"/>
                <a:gd name="T26" fmla="*/ 150 w 1230"/>
                <a:gd name="T27" fmla="*/ 751 h 1221"/>
                <a:gd name="T28" fmla="*/ 150 w 1230"/>
                <a:gd name="T29" fmla="*/ 810 h 1221"/>
                <a:gd name="T30" fmla="*/ 209 w 1230"/>
                <a:gd name="T31" fmla="*/ 810 h 1221"/>
                <a:gd name="T32" fmla="*/ 794 w 1230"/>
                <a:gd name="T33" fmla="*/ 216 h 1221"/>
                <a:gd name="T34" fmla="*/ 735 w 1230"/>
                <a:gd name="T35" fmla="*/ 166 h 1221"/>
                <a:gd name="T36" fmla="*/ 150 w 1230"/>
                <a:gd name="T37" fmla="*/ 751 h 1221"/>
                <a:gd name="T38" fmla="*/ 844 w 1230"/>
                <a:gd name="T39" fmla="*/ 275 h 1221"/>
                <a:gd name="T40" fmla="*/ 259 w 1230"/>
                <a:gd name="T41" fmla="*/ 860 h 1221"/>
                <a:gd name="T42" fmla="*/ 259 w 1230"/>
                <a:gd name="T43" fmla="*/ 969 h 1221"/>
                <a:gd name="T44" fmla="*/ 367 w 1230"/>
                <a:gd name="T45" fmla="*/ 969 h 1221"/>
                <a:gd name="T46" fmla="*/ 953 w 1230"/>
                <a:gd name="T47" fmla="*/ 383 h 1221"/>
                <a:gd name="T48" fmla="*/ 844 w 1230"/>
                <a:gd name="T49" fmla="*/ 275 h 1221"/>
                <a:gd name="T50" fmla="*/ 367 w 1230"/>
                <a:gd name="T51" fmla="*/ 1127 h 1221"/>
                <a:gd name="T52" fmla="*/ 334 w 1230"/>
                <a:gd name="T53" fmla="*/ 1061 h 1221"/>
                <a:gd name="T54" fmla="*/ 309 w 1230"/>
                <a:gd name="T55" fmla="*/ 1061 h 1221"/>
                <a:gd name="T56" fmla="*/ 209 w 1230"/>
                <a:gd name="T57" fmla="*/ 1019 h 1221"/>
                <a:gd name="T58" fmla="*/ 158 w 1230"/>
                <a:gd name="T59" fmla="*/ 910 h 1221"/>
                <a:gd name="T60" fmla="*/ 167 w 1230"/>
                <a:gd name="T61" fmla="*/ 893 h 1221"/>
                <a:gd name="T62" fmla="*/ 100 w 1230"/>
                <a:gd name="T63" fmla="*/ 860 h 1221"/>
                <a:gd name="T64" fmla="*/ 92 w 1230"/>
                <a:gd name="T65" fmla="*/ 852 h 1221"/>
                <a:gd name="T66" fmla="*/ 0 w 1230"/>
                <a:gd name="T67" fmla="*/ 1220 h 1221"/>
                <a:gd name="T68" fmla="*/ 367 w 1230"/>
                <a:gd name="T69" fmla="*/ 1127 h 1221"/>
                <a:gd name="T70" fmla="*/ 367 w 1230"/>
                <a:gd name="T71" fmla="*/ 1127 h 1221"/>
                <a:gd name="T72" fmla="*/ 367 w 1230"/>
                <a:gd name="T73" fmla="*/ 1127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0" h="1221">
                  <a:moveTo>
                    <a:pt x="1162" y="383"/>
                  </a:moveTo>
                  <a:cubicBezTo>
                    <a:pt x="1112" y="433"/>
                    <a:pt x="1112" y="433"/>
                    <a:pt x="1112" y="433"/>
                  </a:cubicBezTo>
                  <a:cubicBezTo>
                    <a:pt x="794" y="116"/>
                    <a:pt x="794" y="116"/>
                    <a:pt x="794" y="116"/>
                  </a:cubicBezTo>
                  <a:cubicBezTo>
                    <a:pt x="844" y="57"/>
                    <a:pt x="844" y="57"/>
                    <a:pt x="844" y="57"/>
                  </a:cubicBezTo>
                  <a:cubicBezTo>
                    <a:pt x="903" y="0"/>
                    <a:pt x="1003" y="0"/>
                    <a:pt x="1061" y="57"/>
                  </a:cubicBezTo>
                  <a:cubicBezTo>
                    <a:pt x="1162" y="166"/>
                    <a:pt x="1162" y="166"/>
                    <a:pt x="1162" y="166"/>
                  </a:cubicBezTo>
                  <a:cubicBezTo>
                    <a:pt x="1229" y="225"/>
                    <a:pt x="1229" y="325"/>
                    <a:pt x="1162" y="383"/>
                  </a:cubicBezTo>
                  <a:close/>
                  <a:moveTo>
                    <a:pt x="418" y="1019"/>
                  </a:moveTo>
                  <a:cubicBezTo>
                    <a:pt x="401" y="1035"/>
                    <a:pt x="401" y="1061"/>
                    <a:pt x="418" y="1077"/>
                  </a:cubicBezTo>
                  <a:cubicBezTo>
                    <a:pt x="434" y="1086"/>
                    <a:pt x="459" y="1086"/>
                    <a:pt x="468" y="1077"/>
                  </a:cubicBezTo>
                  <a:cubicBezTo>
                    <a:pt x="1061" y="484"/>
                    <a:pt x="1061" y="484"/>
                    <a:pt x="1061" y="484"/>
                  </a:cubicBezTo>
                  <a:cubicBezTo>
                    <a:pt x="1003" y="433"/>
                    <a:pt x="1003" y="433"/>
                    <a:pt x="1003" y="433"/>
                  </a:cubicBezTo>
                  <a:lnTo>
                    <a:pt x="418" y="1019"/>
                  </a:lnTo>
                  <a:close/>
                  <a:moveTo>
                    <a:pt x="150" y="751"/>
                  </a:moveTo>
                  <a:cubicBezTo>
                    <a:pt x="133" y="768"/>
                    <a:pt x="133" y="793"/>
                    <a:pt x="150" y="810"/>
                  </a:cubicBezTo>
                  <a:cubicBezTo>
                    <a:pt x="167" y="818"/>
                    <a:pt x="192" y="818"/>
                    <a:pt x="209" y="810"/>
                  </a:cubicBezTo>
                  <a:cubicBezTo>
                    <a:pt x="794" y="216"/>
                    <a:pt x="794" y="216"/>
                    <a:pt x="794" y="216"/>
                  </a:cubicBezTo>
                  <a:cubicBezTo>
                    <a:pt x="735" y="166"/>
                    <a:pt x="735" y="166"/>
                    <a:pt x="735" y="166"/>
                  </a:cubicBezTo>
                  <a:lnTo>
                    <a:pt x="150" y="751"/>
                  </a:lnTo>
                  <a:close/>
                  <a:moveTo>
                    <a:pt x="844" y="275"/>
                  </a:moveTo>
                  <a:cubicBezTo>
                    <a:pt x="259" y="860"/>
                    <a:pt x="259" y="860"/>
                    <a:pt x="259" y="860"/>
                  </a:cubicBezTo>
                  <a:cubicBezTo>
                    <a:pt x="225" y="893"/>
                    <a:pt x="225" y="935"/>
                    <a:pt x="259" y="969"/>
                  </a:cubicBezTo>
                  <a:cubicBezTo>
                    <a:pt x="284" y="994"/>
                    <a:pt x="334" y="994"/>
                    <a:pt x="367" y="969"/>
                  </a:cubicBezTo>
                  <a:cubicBezTo>
                    <a:pt x="953" y="383"/>
                    <a:pt x="953" y="383"/>
                    <a:pt x="953" y="383"/>
                  </a:cubicBezTo>
                  <a:lnTo>
                    <a:pt x="844" y="275"/>
                  </a:lnTo>
                  <a:close/>
                  <a:moveTo>
                    <a:pt x="367" y="1127"/>
                  </a:moveTo>
                  <a:cubicBezTo>
                    <a:pt x="351" y="1111"/>
                    <a:pt x="343" y="1086"/>
                    <a:pt x="334" y="1061"/>
                  </a:cubicBezTo>
                  <a:cubicBezTo>
                    <a:pt x="326" y="1061"/>
                    <a:pt x="317" y="1061"/>
                    <a:pt x="309" y="1061"/>
                  </a:cubicBezTo>
                  <a:cubicBezTo>
                    <a:pt x="276" y="1061"/>
                    <a:pt x="234" y="1052"/>
                    <a:pt x="209" y="1019"/>
                  </a:cubicBezTo>
                  <a:cubicBezTo>
                    <a:pt x="175" y="994"/>
                    <a:pt x="158" y="952"/>
                    <a:pt x="158" y="910"/>
                  </a:cubicBezTo>
                  <a:cubicBezTo>
                    <a:pt x="158" y="910"/>
                    <a:pt x="158" y="902"/>
                    <a:pt x="167" y="893"/>
                  </a:cubicBezTo>
                  <a:cubicBezTo>
                    <a:pt x="142" y="885"/>
                    <a:pt x="117" y="877"/>
                    <a:pt x="100" y="860"/>
                  </a:cubicBezTo>
                  <a:lnTo>
                    <a:pt x="92" y="852"/>
                  </a:lnTo>
                  <a:cubicBezTo>
                    <a:pt x="0" y="1220"/>
                    <a:pt x="0" y="1220"/>
                    <a:pt x="0" y="1220"/>
                  </a:cubicBezTo>
                  <a:cubicBezTo>
                    <a:pt x="367" y="1127"/>
                    <a:pt x="367" y="1127"/>
                    <a:pt x="367" y="1127"/>
                  </a:cubicBezTo>
                  <a:close/>
                  <a:moveTo>
                    <a:pt x="367" y="1127"/>
                  </a:moveTo>
                  <a:lnTo>
                    <a:pt x="367" y="11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45719" tIns="22859" rIns="45719" bIns="22859" anchor="ctr"/>
            <a:lstStyle/>
            <a:p>
              <a:pPr>
                <a:defRPr/>
              </a:pPr>
              <a:endParaRPr lang="en-US" sz="50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</p:grpSp>
      <p:sp>
        <p:nvSpPr>
          <p:cNvPr id="68" name="Rectangle 93"/>
          <p:cNvSpPr>
            <a:spLocks noChangeArrowheads="1"/>
          </p:cNvSpPr>
          <p:nvPr/>
        </p:nvSpPr>
        <p:spPr bwMode="auto">
          <a:xfrm>
            <a:off x="448310" y="201930"/>
            <a:ext cx="8205470" cy="97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2800" u="sng">
                <a:solidFill>
                  <a:srgbClr val="0070C0"/>
                </a:solidFill>
                <a:sym typeface="+mn-ea"/>
              </a:rPr>
              <a:t>Growth &amp; Stability</a:t>
            </a:r>
            <a:r>
              <a:rPr lang="en-US" sz="280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     </a:t>
            </a:r>
            <a:r>
              <a:rPr sz="2800" u="sng">
                <a:solidFill>
                  <a:srgbClr val="0070C0"/>
                </a:solidFill>
                <a:sym typeface="+mn-ea"/>
              </a:rPr>
              <a:t>Job Opportunities &amp;</a:t>
            </a:r>
            <a:endParaRPr sz="2800">
              <a:solidFill>
                <a:srgbClr val="0070C0"/>
              </a:solidFill>
              <a:sym typeface="+mn-ea"/>
            </a:endParaRPr>
          </a:p>
          <a:p>
            <a:pPr algn="l" eaLnBrk="1" hangingPunct="1"/>
            <a:r>
              <a:rPr sz="2800">
                <a:solidFill>
                  <a:srgbClr val="0070C0"/>
                </a:solidFill>
                <a:sym typeface="+mn-ea"/>
              </a:rPr>
              <a:t> </a:t>
            </a:r>
            <a:r>
              <a:rPr lang="en-US" sz="2800">
                <a:solidFill>
                  <a:srgbClr val="0070C0"/>
                </a:solidFill>
                <a:sym typeface="+mn-ea"/>
              </a:rPr>
              <a:t>                             </a:t>
            </a:r>
            <a:r>
              <a:rPr sz="2800">
                <a:solidFill>
                  <a:srgbClr val="0070C0"/>
                </a:solidFill>
                <a:sym typeface="+mn-ea"/>
              </a:rPr>
              <a:t> </a:t>
            </a:r>
            <a:r>
              <a:rPr sz="2800" u="sng">
                <a:solidFill>
                  <a:srgbClr val="0070C0"/>
                </a:solidFill>
                <a:sym typeface="+mn-ea"/>
              </a:rPr>
              <a:t>Financial Outlook</a:t>
            </a:r>
            <a:endParaRPr sz="2800" u="sng">
              <a:solidFill>
                <a:srgbClr val="0070C0"/>
              </a:solidFill>
              <a:sym typeface="+mn-ea"/>
            </a:endParaRPr>
          </a:p>
          <a:p>
            <a:pPr algn="l" eaLnBrk="1" hangingPunct="1"/>
            <a:r>
              <a:rPr lang="en-US" altLang="zh-CN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  </a:t>
            </a:r>
            <a:r>
              <a:rPr lang="zh-CN" altLang="en-US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sz="16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544244" y="770274"/>
            <a:ext cx="3273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94"/>
          <p:cNvSpPr txBox="1">
            <a:spLocks noChangeArrowheads="1"/>
          </p:cNvSpPr>
          <p:nvPr/>
        </p:nvSpPr>
        <p:spPr bwMode="auto">
          <a:xfrm>
            <a:off x="617220" y="1270000"/>
            <a:ext cx="7596505" cy="334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sz="2000" b="1" u="sng">
                <a:solidFill>
                  <a:schemeClr val="accent2"/>
                </a:solidFill>
                <a:sym typeface="+mn-ea"/>
              </a:rPr>
              <a:t>Skill progression and milestones:</a:t>
            </a:r>
            <a:endParaRPr sz="2000" b="1" u="sng">
              <a:solidFill>
                <a:schemeClr val="accent2"/>
              </a:solidFill>
              <a:sym typeface="+mn-ea"/>
            </a:endParaRPr>
          </a:p>
          <a:p>
            <a:pPr algn="l" eaLnBrk="1" hangingPunct="1">
              <a:lnSpc>
                <a:spcPct val="150000"/>
              </a:lnSpc>
            </a:pPr>
            <a:endParaRPr sz="1800">
              <a:sym typeface="+mn-ea"/>
            </a:endParaRPr>
          </a:p>
          <a:p>
            <a:pPr lvl="1"/>
            <a:r>
              <a:rPr sz="1800" b="1" u="sng">
                <a:sym typeface="+mn-ea"/>
              </a:rPr>
              <a:t>- </a:t>
            </a:r>
            <a:r>
              <a:rPr sz="1800" b="1" u="sng">
                <a:solidFill>
                  <a:schemeClr val="accent2"/>
                </a:solidFill>
                <a:sym typeface="+mn-ea"/>
              </a:rPr>
              <a:t>Foundation:</a:t>
            </a:r>
            <a:r>
              <a:rPr sz="1800">
                <a:solidFill>
                  <a:schemeClr val="accent2"/>
                </a:solidFill>
                <a:sym typeface="+mn-ea"/>
              </a:rPr>
              <a:t> </a:t>
            </a:r>
            <a:r>
              <a:rPr sz="1800">
                <a:solidFill>
                  <a:schemeClr val="tx1"/>
                </a:solidFill>
                <a:sym typeface="+mn-ea"/>
              </a:rPr>
              <a:t>strong math (linear algebra, probability), programming (Python).</a:t>
            </a:r>
            <a:endParaRPr sz="1800">
              <a:solidFill>
                <a:schemeClr val="accent2"/>
              </a:solidFill>
              <a:sym typeface="+mn-ea"/>
            </a:endParaRPr>
          </a:p>
          <a:p>
            <a:pPr lvl="1"/>
            <a:r>
              <a:rPr sz="1800" b="1" u="sng">
                <a:solidFill>
                  <a:schemeClr val="accent2"/>
                </a:solidFill>
                <a:sym typeface="+mn-ea"/>
              </a:rPr>
              <a:t>- Intermediate: </a:t>
            </a:r>
            <a:r>
              <a:rPr sz="1800">
                <a:solidFill>
                  <a:schemeClr val="tx1"/>
                </a:solidFill>
                <a:sym typeface="+mn-ea"/>
              </a:rPr>
              <a:t>ML algorithms, model evaluation, basic Deep Learning.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lvl="1"/>
            <a:r>
              <a:rPr sz="1800" b="1" u="sng">
                <a:solidFill>
                  <a:schemeClr val="accent2"/>
                </a:solidFill>
                <a:sym typeface="+mn-ea"/>
              </a:rPr>
              <a:t>- Advanced</a:t>
            </a:r>
            <a:r>
              <a:rPr sz="1800">
                <a:solidFill>
                  <a:schemeClr val="accent2"/>
                </a:solidFill>
                <a:sym typeface="+mn-ea"/>
              </a:rPr>
              <a:t>: </a:t>
            </a:r>
            <a:r>
              <a:rPr sz="1800">
                <a:solidFill>
                  <a:schemeClr val="tx1"/>
                </a:solidFill>
                <a:sym typeface="+mn-ea"/>
              </a:rPr>
              <a:t>Large-scale ML, MLOps, model interpretability, specialization (NLP/CV).</a:t>
            </a:r>
            <a:endParaRPr sz="1800">
              <a:solidFill>
                <a:schemeClr val="accent2"/>
              </a:solidFill>
              <a:sym typeface="+mn-ea"/>
            </a:endParaRPr>
          </a:p>
          <a:p>
            <a:pPr lvl="1"/>
            <a:r>
              <a:rPr sz="1800" b="1" u="sng">
                <a:solidFill>
                  <a:schemeClr val="accent2"/>
                </a:solidFill>
                <a:sym typeface="+mn-ea"/>
              </a:rPr>
              <a:t>- Career paths:</a:t>
            </a:r>
            <a:r>
              <a:rPr sz="1800" u="sng">
                <a:solidFill>
                  <a:schemeClr val="accent2"/>
                </a:solidFill>
                <a:sym typeface="+mn-ea"/>
              </a:rPr>
              <a:t> </a:t>
            </a:r>
            <a:r>
              <a:rPr sz="1800">
                <a:solidFill>
                  <a:schemeClr val="tx1"/>
                </a:solidFill>
                <a:sym typeface="+mn-ea"/>
              </a:rPr>
              <a:t>research, engineering, product, entrepreneurship</a:t>
            </a:r>
            <a:r>
              <a:rPr sz="1000">
                <a:solidFill>
                  <a:schemeClr val="tx1"/>
                </a:solidFill>
                <a:sym typeface="+mn-ea"/>
              </a:rPr>
              <a:t>.</a:t>
            </a:r>
            <a:endParaRPr sz="1000">
              <a:solidFill>
                <a:schemeClr val="tx1"/>
              </a:solidFill>
              <a:sym typeface="+mn-ea"/>
            </a:endParaRPr>
          </a:p>
          <a:p>
            <a:pPr algn="l" eaLnBrk="1" hangingPunct="1">
              <a:lnSpc>
                <a:spcPct val="150000"/>
              </a:lnSpc>
            </a:pPr>
            <a:endParaRPr lang="en-US" altLang="zh-CN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7" name="Rectangle 93"/>
          <p:cNvSpPr>
            <a:spLocks noChangeArrowheads="1"/>
          </p:cNvSpPr>
          <p:nvPr/>
        </p:nvSpPr>
        <p:spPr bwMode="auto">
          <a:xfrm>
            <a:off x="448310" y="201930"/>
            <a:ext cx="485711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2800" b="1" u="sng">
                <a:solidFill>
                  <a:srgbClr val="00B050"/>
                </a:solidFill>
                <a:sym typeface="+mn-ea"/>
              </a:rPr>
              <a:t>Future Potential — Roadmap</a:t>
            </a:r>
            <a:endParaRPr sz="2800" b="1" u="sng">
              <a:solidFill>
                <a:srgbClr val="00B050"/>
              </a:solidFill>
              <a:sym typeface="+mn-ea"/>
            </a:endParaRPr>
          </a:p>
          <a:p>
            <a:pPr algn="l" eaLnBrk="1" hangingPunct="1"/>
            <a:r>
              <a:rPr lang="zh-CN" alt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sz="2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/>
          <p:nvPr/>
        </p:nvSpPr>
        <p:spPr>
          <a:xfrm>
            <a:off x="431800" y="2479345"/>
            <a:ext cx="2685621" cy="860585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Autofit/>
          </a:bodyPr>
          <a:lstStyle/>
          <a:p>
            <a:pPr>
              <a:spcBef>
                <a:spcPct val="0"/>
              </a:spcBef>
            </a:pPr>
            <a:endParaRPr lang="en-US" sz="3600" b="1" spc="-113" noProof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Rectangle 93"/>
          <p:cNvSpPr>
            <a:spLocks noChangeArrowheads="1"/>
          </p:cNvSpPr>
          <p:nvPr/>
        </p:nvSpPr>
        <p:spPr bwMode="auto">
          <a:xfrm>
            <a:off x="448310" y="201930"/>
            <a:ext cx="5820410" cy="47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24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Comparison Snapshot: AI/ML vs Other Courses</a:t>
            </a:r>
            <a:endParaRPr sz="2400" b="1" u="sng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l" eaLnBrk="1" hangingPunct="1"/>
            <a:r>
              <a:rPr lang="zh-CN" alt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en-US" altLang="zh-CN" sz="16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544244" y="770274"/>
            <a:ext cx="3273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8310" y="863600"/>
          <a:ext cx="8229600" cy="424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708660">
                <a:tc>
                  <a:txBody>
                    <a:bodyPr/>
                    <a:lstStyle/>
                    <a:p>
                      <a:r>
                        <a:t>Metric /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Cyber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Blockchain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Growth &amp; Demand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8.7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Stability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7.3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58991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Job Opportunities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8.9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8.6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Financial Outlook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8.7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6.3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58991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Future Potential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9.6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9.1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8.9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Work-Life Balance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6.8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6.9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7.3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accent2"/>
                          </a:solidFill>
                        </a:rPr>
                        <a:t>6.0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41325" y="267335"/>
            <a:ext cx="5562600" cy="5353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sz="2400" b="1" u="sng"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Average Comparative Score by Course</a:t>
            </a:r>
            <a:endParaRPr lang="en-US" sz="2400" b="1" u="sng"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 descr="avg_scor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79425" y="220980"/>
            <a:ext cx="6453505" cy="567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 u="sng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Metric-by-Metric Comparison Across Courses</a:t>
            </a:r>
            <a:endParaRPr sz="2400" b="1" u="sng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400" b="1" u="sng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 descr="metric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768985" y="251460"/>
            <a:ext cx="5508625" cy="71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 u="sng">
                <a:solidFill>
                  <a:srgbClr val="002060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AI/ML Growth Trend (2018–2025)</a:t>
            </a:r>
            <a:endParaRPr lang="en-US" sz="2400" b="1" u="sng">
              <a:solidFill>
                <a:srgbClr val="002060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  <p:pic>
        <p:nvPicPr>
          <p:cNvPr id="4" name="Picture 3" descr="ai_ml_grow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30"/>
          <p:cNvSpPr/>
          <p:nvPr>
            <p:custDataLst>
              <p:tags r:id="rId1"/>
            </p:custDataLst>
          </p:nvPr>
        </p:nvSpPr>
        <p:spPr bwMode="auto">
          <a:xfrm>
            <a:off x="1011678" y="1478535"/>
            <a:ext cx="573881" cy="5738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01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Oval 89"/>
          <p:cNvSpPr/>
          <p:nvPr>
            <p:custDataLst>
              <p:tags r:id="rId2"/>
            </p:custDataLst>
          </p:nvPr>
        </p:nvSpPr>
        <p:spPr bwMode="auto">
          <a:xfrm>
            <a:off x="1014655" y="2242359"/>
            <a:ext cx="573881" cy="57388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02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Oval 92"/>
          <p:cNvSpPr/>
          <p:nvPr>
            <p:custDataLst>
              <p:tags r:id="rId3"/>
            </p:custDataLst>
          </p:nvPr>
        </p:nvSpPr>
        <p:spPr bwMode="auto">
          <a:xfrm>
            <a:off x="1014655" y="3110258"/>
            <a:ext cx="573881" cy="57388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03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Rectangle 9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10575" y="1369457"/>
            <a:ext cx="2860675" cy="29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1400" b="1">
                <a:sym typeface="+mn-ea"/>
              </a:rPr>
              <a:t>- Cross-domain applicability:</a:t>
            </a:r>
            <a:r>
              <a:rPr sz="1400">
                <a:sym typeface="+mn-ea"/>
              </a:rPr>
              <a:t> </a:t>
            </a:r>
            <a:endParaRPr lang="en-US" altLang="zh-CN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TextBox 9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10575" y="1690225"/>
            <a:ext cx="2799260" cy="58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0" lvl="1" eaLnBrk="1" hangingPunct="1">
              <a:lnSpc>
                <a:spcPct val="150000"/>
              </a:lnSpc>
            </a:pPr>
            <a:r>
              <a:rPr sz="1200">
                <a:sym typeface="+mn-ea"/>
              </a:rPr>
              <a:t> impacts nearly every sector</a:t>
            </a:r>
            <a:r>
              <a:rPr sz="1000">
                <a:sym typeface="+mn-ea"/>
              </a:rPr>
              <a:t>.</a:t>
            </a:r>
            <a:endParaRPr sz="10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Rectangle 9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10575" y="2383976"/>
            <a:ext cx="290830" cy="51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en-US" altLang="zh-CN" sz="14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9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650365" y="2317115"/>
            <a:ext cx="2859405" cy="79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sz="1200">
                <a:sym typeface="+mn-ea"/>
              </a:rPr>
              <a:t>High earning potential and research momentum.</a:t>
            </a:r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2" name="Rectangle 9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50365" y="3194050"/>
            <a:ext cx="316611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1200">
                <a:sym typeface="+mn-ea"/>
              </a:rPr>
              <a:t>Growing tooling and cloud support </a:t>
            </a:r>
            <a:endParaRPr sz="1200">
              <a:sym typeface="+mn-ea"/>
            </a:endParaRPr>
          </a:p>
          <a:p>
            <a:pPr algn="l" eaLnBrk="1" hangingPunct="1"/>
            <a:r>
              <a:rPr sz="1200">
                <a:sym typeface="+mn-ea"/>
              </a:rPr>
              <a:t>(easier prototyping &amp; scaling).</a:t>
            </a:r>
            <a:endParaRPr lang="en-US" altLang="zh-CN" sz="1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3" name="TextBox 9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10575" y="3912844"/>
            <a:ext cx="2799260" cy="91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0" lvl="1" eaLnBrk="1" hangingPunct="1">
              <a:lnSpc>
                <a:spcPct val="150000"/>
              </a:lnSpc>
            </a:pPr>
            <a:r>
              <a:rPr sz="1400" b="1">
                <a:sym typeface="+mn-ea"/>
              </a:rPr>
              <a:t>Broad role diversity:</a:t>
            </a:r>
            <a:r>
              <a:rPr sz="1200">
                <a:sym typeface="+mn-ea"/>
              </a:rPr>
              <a:t> from research to product to infra.</a:t>
            </a:r>
            <a:endParaRPr sz="10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 rot="13140000" flipH="1">
            <a:off x="5287804" y="1690743"/>
            <a:ext cx="2150269" cy="11444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50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 rot="10800000" flipH="1">
            <a:off x="4698922" y="2816542"/>
            <a:ext cx="2006799" cy="289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50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 rot="7500000">
            <a:off x="5581055" y="2816423"/>
            <a:ext cx="2000847" cy="13084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50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3" name="Oval 8"/>
          <p:cNvSpPr/>
          <p:nvPr/>
        </p:nvSpPr>
        <p:spPr bwMode="auto">
          <a:xfrm>
            <a:off x="6705720" y="2144476"/>
            <a:ext cx="1307901" cy="130849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12700" dist="114299" dir="5400000" algn="ctr" rotWithShape="0">
              <a:schemeClr val="bg2">
                <a:alpha val="9000"/>
              </a:schemeClr>
            </a:outerShdw>
          </a:effectLst>
        </p:spPr>
        <p:txBody>
          <a:bodyPr lIns="0" tIns="0" rIns="0" bIns="0" anchor="ctr"/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40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8" name="AutoShape 49"/>
          <p:cNvSpPr/>
          <p:nvPr/>
        </p:nvSpPr>
        <p:spPr bwMode="auto">
          <a:xfrm>
            <a:off x="7558593" y="1441529"/>
            <a:ext cx="327422" cy="32920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143" y="21047"/>
                </a:moveTo>
                <a:cubicBezTo>
                  <a:pt x="3143" y="21200"/>
                  <a:pt x="3101" y="21329"/>
                  <a:pt x="3025" y="21435"/>
                </a:cubicBezTo>
                <a:cubicBezTo>
                  <a:pt x="2947" y="21544"/>
                  <a:pt x="2841" y="21599"/>
                  <a:pt x="2707" y="21599"/>
                </a:cubicBezTo>
                <a:lnTo>
                  <a:pt x="457" y="21599"/>
                </a:lnTo>
                <a:cubicBezTo>
                  <a:pt x="154" y="21599"/>
                  <a:pt x="0" y="21414"/>
                  <a:pt x="0" y="21047"/>
                </a:cubicBezTo>
                <a:lnTo>
                  <a:pt x="0" y="17393"/>
                </a:lnTo>
                <a:cubicBezTo>
                  <a:pt x="0" y="17244"/>
                  <a:pt x="46" y="17114"/>
                  <a:pt x="134" y="17006"/>
                </a:cubicBezTo>
                <a:cubicBezTo>
                  <a:pt x="225" y="16900"/>
                  <a:pt x="332" y="16844"/>
                  <a:pt x="457" y="16844"/>
                </a:cubicBezTo>
                <a:lnTo>
                  <a:pt x="2707" y="16844"/>
                </a:lnTo>
                <a:cubicBezTo>
                  <a:pt x="2834" y="16844"/>
                  <a:pt x="2937" y="16900"/>
                  <a:pt x="3018" y="17006"/>
                </a:cubicBezTo>
                <a:cubicBezTo>
                  <a:pt x="3101" y="17114"/>
                  <a:pt x="3143" y="17244"/>
                  <a:pt x="3143" y="17393"/>
                </a:cubicBezTo>
                <a:lnTo>
                  <a:pt x="3143" y="21047"/>
                </a:lnTo>
                <a:close/>
                <a:moveTo>
                  <a:pt x="7757" y="21047"/>
                </a:moveTo>
                <a:cubicBezTo>
                  <a:pt x="7757" y="21200"/>
                  <a:pt x="7715" y="21329"/>
                  <a:pt x="7634" y="21435"/>
                </a:cubicBezTo>
                <a:cubicBezTo>
                  <a:pt x="7551" y="21544"/>
                  <a:pt x="7448" y="21599"/>
                  <a:pt x="7324" y="21599"/>
                </a:cubicBezTo>
                <a:lnTo>
                  <a:pt x="5062" y="21599"/>
                </a:lnTo>
                <a:cubicBezTo>
                  <a:pt x="4934" y="21599"/>
                  <a:pt x="4829" y="21544"/>
                  <a:pt x="4739" y="21435"/>
                </a:cubicBezTo>
                <a:cubicBezTo>
                  <a:pt x="4648" y="21329"/>
                  <a:pt x="4604" y="21200"/>
                  <a:pt x="4604" y="21047"/>
                </a:cubicBezTo>
                <a:lnTo>
                  <a:pt x="4604" y="14947"/>
                </a:lnTo>
                <a:cubicBezTo>
                  <a:pt x="4604" y="14797"/>
                  <a:pt x="4648" y="14668"/>
                  <a:pt x="4739" y="14559"/>
                </a:cubicBezTo>
                <a:cubicBezTo>
                  <a:pt x="4829" y="14453"/>
                  <a:pt x="4934" y="14398"/>
                  <a:pt x="5062" y="14398"/>
                </a:cubicBezTo>
                <a:lnTo>
                  <a:pt x="7324" y="14398"/>
                </a:lnTo>
                <a:cubicBezTo>
                  <a:pt x="7448" y="14398"/>
                  <a:pt x="7551" y="14453"/>
                  <a:pt x="7634" y="14559"/>
                </a:cubicBezTo>
                <a:cubicBezTo>
                  <a:pt x="7715" y="14668"/>
                  <a:pt x="7757" y="14797"/>
                  <a:pt x="7757" y="14947"/>
                </a:cubicBezTo>
                <a:lnTo>
                  <a:pt x="7757" y="21047"/>
                </a:lnTo>
                <a:close/>
                <a:moveTo>
                  <a:pt x="12388" y="21047"/>
                </a:moveTo>
                <a:cubicBezTo>
                  <a:pt x="12388" y="21200"/>
                  <a:pt x="12342" y="21329"/>
                  <a:pt x="12251" y="21435"/>
                </a:cubicBezTo>
                <a:cubicBezTo>
                  <a:pt x="12165" y="21544"/>
                  <a:pt x="12055" y="21599"/>
                  <a:pt x="11928" y="21599"/>
                </a:cubicBezTo>
                <a:lnTo>
                  <a:pt x="9666" y="21599"/>
                </a:lnTo>
                <a:cubicBezTo>
                  <a:pt x="9541" y="21599"/>
                  <a:pt x="9434" y="21544"/>
                  <a:pt x="9343" y="21435"/>
                </a:cubicBezTo>
                <a:cubicBezTo>
                  <a:pt x="9255" y="21329"/>
                  <a:pt x="9208" y="21200"/>
                  <a:pt x="9208" y="21047"/>
                </a:cubicBezTo>
                <a:lnTo>
                  <a:pt x="9208" y="11546"/>
                </a:lnTo>
                <a:cubicBezTo>
                  <a:pt x="9208" y="11393"/>
                  <a:pt x="9255" y="11264"/>
                  <a:pt x="9343" y="11158"/>
                </a:cubicBezTo>
                <a:cubicBezTo>
                  <a:pt x="9434" y="11049"/>
                  <a:pt x="9541" y="10996"/>
                  <a:pt x="9666" y="10996"/>
                </a:cubicBezTo>
                <a:lnTo>
                  <a:pt x="11928" y="10996"/>
                </a:lnTo>
                <a:cubicBezTo>
                  <a:pt x="12055" y="10996"/>
                  <a:pt x="12165" y="11049"/>
                  <a:pt x="12251" y="11158"/>
                </a:cubicBezTo>
                <a:cubicBezTo>
                  <a:pt x="12342" y="11264"/>
                  <a:pt x="12388" y="11393"/>
                  <a:pt x="12388" y="11546"/>
                </a:cubicBezTo>
                <a:lnTo>
                  <a:pt x="12388" y="21047"/>
                </a:lnTo>
                <a:close/>
                <a:moveTo>
                  <a:pt x="16993" y="21047"/>
                </a:moveTo>
                <a:cubicBezTo>
                  <a:pt x="16993" y="21200"/>
                  <a:pt x="16946" y="21329"/>
                  <a:pt x="16856" y="21435"/>
                </a:cubicBezTo>
                <a:cubicBezTo>
                  <a:pt x="16767" y="21544"/>
                  <a:pt x="16660" y="21599"/>
                  <a:pt x="16535" y="21599"/>
                </a:cubicBezTo>
                <a:lnTo>
                  <a:pt x="14285" y="21599"/>
                </a:lnTo>
                <a:cubicBezTo>
                  <a:pt x="14158" y="21599"/>
                  <a:pt x="14055" y="21544"/>
                  <a:pt x="13974" y="21435"/>
                </a:cubicBezTo>
                <a:cubicBezTo>
                  <a:pt x="13894" y="21329"/>
                  <a:pt x="13850" y="21200"/>
                  <a:pt x="13850" y="21047"/>
                </a:cubicBezTo>
                <a:lnTo>
                  <a:pt x="13850" y="7058"/>
                </a:lnTo>
                <a:cubicBezTo>
                  <a:pt x="13850" y="6908"/>
                  <a:pt x="13891" y="6781"/>
                  <a:pt x="13967" y="6670"/>
                </a:cubicBezTo>
                <a:cubicBezTo>
                  <a:pt x="14045" y="6564"/>
                  <a:pt x="14151" y="6511"/>
                  <a:pt x="14285" y="6511"/>
                </a:cubicBezTo>
                <a:lnTo>
                  <a:pt x="16535" y="6511"/>
                </a:lnTo>
                <a:cubicBezTo>
                  <a:pt x="16660" y="6511"/>
                  <a:pt x="16767" y="6561"/>
                  <a:pt x="16855" y="6664"/>
                </a:cubicBezTo>
                <a:cubicBezTo>
                  <a:pt x="16946" y="6767"/>
                  <a:pt x="16993" y="6899"/>
                  <a:pt x="16993" y="7058"/>
                </a:cubicBezTo>
                <a:lnTo>
                  <a:pt x="16993" y="21047"/>
                </a:lnTo>
                <a:close/>
                <a:moveTo>
                  <a:pt x="21599" y="21047"/>
                </a:moveTo>
                <a:cubicBezTo>
                  <a:pt x="21599" y="21414"/>
                  <a:pt x="21448" y="21599"/>
                  <a:pt x="21139" y="21599"/>
                </a:cubicBezTo>
                <a:lnTo>
                  <a:pt x="18914" y="21599"/>
                </a:lnTo>
                <a:cubicBezTo>
                  <a:pt x="18611" y="21599"/>
                  <a:pt x="18456" y="21414"/>
                  <a:pt x="18456" y="21047"/>
                </a:cubicBezTo>
                <a:lnTo>
                  <a:pt x="18456" y="549"/>
                </a:lnTo>
                <a:cubicBezTo>
                  <a:pt x="18456" y="182"/>
                  <a:pt x="18608" y="0"/>
                  <a:pt x="18914" y="0"/>
                </a:cubicBezTo>
                <a:lnTo>
                  <a:pt x="21139" y="0"/>
                </a:lnTo>
                <a:cubicBezTo>
                  <a:pt x="21445" y="0"/>
                  <a:pt x="21599" y="182"/>
                  <a:pt x="21599" y="549"/>
                </a:cubicBezTo>
                <a:lnTo>
                  <a:pt x="21599" y="210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38092" tIns="38092" rIns="38092" bIns="38092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175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0" name="AutoShape 37"/>
          <p:cNvSpPr/>
          <p:nvPr/>
        </p:nvSpPr>
        <p:spPr bwMode="auto">
          <a:xfrm>
            <a:off x="7544098" y="3915283"/>
            <a:ext cx="328017" cy="3601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412" y="0"/>
                </a:moveTo>
                <a:cubicBezTo>
                  <a:pt x="20751" y="0"/>
                  <a:pt x="21033" y="104"/>
                  <a:pt x="21260" y="316"/>
                </a:cubicBezTo>
                <a:cubicBezTo>
                  <a:pt x="21487" y="530"/>
                  <a:pt x="21599" y="790"/>
                  <a:pt x="21599" y="1109"/>
                </a:cubicBezTo>
                <a:lnTo>
                  <a:pt x="21599" y="15003"/>
                </a:lnTo>
                <a:cubicBezTo>
                  <a:pt x="21599" y="15537"/>
                  <a:pt x="21466" y="16008"/>
                  <a:pt x="21203" y="16415"/>
                </a:cubicBezTo>
                <a:cubicBezTo>
                  <a:pt x="20936" y="16827"/>
                  <a:pt x="20582" y="17169"/>
                  <a:pt x="20143" y="17446"/>
                </a:cubicBezTo>
                <a:cubicBezTo>
                  <a:pt x="19700" y="17719"/>
                  <a:pt x="19219" y="17931"/>
                  <a:pt x="18701" y="18078"/>
                </a:cubicBezTo>
                <a:cubicBezTo>
                  <a:pt x="18177" y="18228"/>
                  <a:pt x="17668" y="18301"/>
                  <a:pt x="17174" y="18301"/>
                </a:cubicBezTo>
                <a:cubicBezTo>
                  <a:pt x="16686" y="18301"/>
                  <a:pt x="16172" y="18228"/>
                  <a:pt x="15644" y="18078"/>
                </a:cubicBezTo>
                <a:cubicBezTo>
                  <a:pt x="15117" y="17931"/>
                  <a:pt x="14642" y="17719"/>
                  <a:pt x="14215" y="17446"/>
                </a:cubicBezTo>
                <a:cubicBezTo>
                  <a:pt x="13788" y="17169"/>
                  <a:pt x="13445" y="16830"/>
                  <a:pt x="13179" y="16423"/>
                </a:cubicBezTo>
                <a:cubicBezTo>
                  <a:pt x="12912" y="16019"/>
                  <a:pt x="12779" y="15545"/>
                  <a:pt x="12779" y="15003"/>
                </a:cubicBezTo>
                <a:cubicBezTo>
                  <a:pt x="12779" y="14492"/>
                  <a:pt x="12912" y="14029"/>
                  <a:pt x="13179" y="13611"/>
                </a:cubicBezTo>
                <a:cubicBezTo>
                  <a:pt x="13445" y="13198"/>
                  <a:pt x="13788" y="12851"/>
                  <a:pt x="14215" y="12572"/>
                </a:cubicBezTo>
                <a:cubicBezTo>
                  <a:pt x="14642" y="12295"/>
                  <a:pt x="15117" y="12080"/>
                  <a:pt x="15644" y="11936"/>
                </a:cubicBezTo>
                <a:cubicBezTo>
                  <a:pt x="16172" y="11792"/>
                  <a:pt x="16686" y="11719"/>
                  <a:pt x="17174" y="11719"/>
                </a:cubicBezTo>
                <a:cubicBezTo>
                  <a:pt x="17441" y="11719"/>
                  <a:pt x="17692" y="11736"/>
                  <a:pt x="17940" y="11775"/>
                </a:cubicBezTo>
                <a:cubicBezTo>
                  <a:pt x="18183" y="11812"/>
                  <a:pt x="18422" y="11854"/>
                  <a:pt x="18652" y="11908"/>
                </a:cubicBezTo>
                <a:lnTo>
                  <a:pt x="18652" y="4648"/>
                </a:lnTo>
                <a:lnTo>
                  <a:pt x="8823" y="7285"/>
                </a:lnTo>
                <a:lnTo>
                  <a:pt x="8823" y="18301"/>
                </a:lnTo>
                <a:cubicBezTo>
                  <a:pt x="8823" y="18835"/>
                  <a:pt x="8690" y="19307"/>
                  <a:pt x="8423" y="19716"/>
                </a:cubicBezTo>
                <a:cubicBezTo>
                  <a:pt x="8157" y="20125"/>
                  <a:pt x="7811" y="20467"/>
                  <a:pt x="7384" y="20744"/>
                </a:cubicBezTo>
                <a:cubicBezTo>
                  <a:pt x="6960" y="21018"/>
                  <a:pt x="6485" y="21230"/>
                  <a:pt x="5955" y="21376"/>
                </a:cubicBezTo>
                <a:cubicBezTo>
                  <a:pt x="5428" y="21526"/>
                  <a:pt x="4919" y="21599"/>
                  <a:pt x="4425" y="21599"/>
                </a:cubicBezTo>
                <a:cubicBezTo>
                  <a:pt x="3913" y="21599"/>
                  <a:pt x="3398" y="21526"/>
                  <a:pt x="2880" y="21376"/>
                </a:cubicBezTo>
                <a:cubicBezTo>
                  <a:pt x="2362" y="21230"/>
                  <a:pt x="1887" y="21018"/>
                  <a:pt x="1450" y="20744"/>
                </a:cubicBezTo>
                <a:cubicBezTo>
                  <a:pt x="1014" y="20467"/>
                  <a:pt x="666" y="20125"/>
                  <a:pt x="399" y="19716"/>
                </a:cubicBezTo>
                <a:cubicBezTo>
                  <a:pt x="133" y="19307"/>
                  <a:pt x="0" y="18835"/>
                  <a:pt x="0" y="18301"/>
                </a:cubicBezTo>
                <a:cubicBezTo>
                  <a:pt x="0" y="17790"/>
                  <a:pt x="133" y="17327"/>
                  <a:pt x="399" y="16909"/>
                </a:cubicBezTo>
                <a:cubicBezTo>
                  <a:pt x="666" y="16497"/>
                  <a:pt x="1014" y="16149"/>
                  <a:pt x="1450" y="15870"/>
                </a:cubicBezTo>
                <a:cubicBezTo>
                  <a:pt x="1887" y="15590"/>
                  <a:pt x="2362" y="15376"/>
                  <a:pt x="2880" y="15229"/>
                </a:cubicBezTo>
                <a:cubicBezTo>
                  <a:pt x="3398" y="15079"/>
                  <a:pt x="3913" y="15003"/>
                  <a:pt x="4425" y="15003"/>
                </a:cubicBezTo>
                <a:cubicBezTo>
                  <a:pt x="4667" y="15003"/>
                  <a:pt x="4913" y="15023"/>
                  <a:pt x="5158" y="15059"/>
                </a:cubicBezTo>
                <a:cubicBezTo>
                  <a:pt x="5403" y="15096"/>
                  <a:pt x="5649" y="15144"/>
                  <a:pt x="5888" y="15209"/>
                </a:cubicBezTo>
                <a:lnTo>
                  <a:pt x="5888" y="4676"/>
                </a:lnTo>
                <a:cubicBezTo>
                  <a:pt x="5888" y="4433"/>
                  <a:pt x="5967" y="4216"/>
                  <a:pt x="6121" y="4029"/>
                </a:cubicBezTo>
                <a:cubicBezTo>
                  <a:pt x="6276" y="3837"/>
                  <a:pt x="6482" y="3707"/>
                  <a:pt x="6745" y="3634"/>
                </a:cubicBezTo>
                <a:cubicBezTo>
                  <a:pt x="6966" y="3583"/>
                  <a:pt x="7445" y="3453"/>
                  <a:pt x="8187" y="3241"/>
                </a:cubicBezTo>
                <a:cubicBezTo>
                  <a:pt x="8926" y="3035"/>
                  <a:pt x="9786" y="2798"/>
                  <a:pt x="10771" y="2533"/>
                </a:cubicBezTo>
                <a:cubicBezTo>
                  <a:pt x="11755" y="2267"/>
                  <a:pt x="12791" y="1985"/>
                  <a:pt x="13888" y="1688"/>
                </a:cubicBezTo>
                <a:cubicBezTo>
                  <a:pt x="14984" y="1392"/>
                  <a:pt x="16005" y="1118"/>
                  <a:pt x="16947" y="872"/>
                </a:cubicBezTo>
                <a:cubicBezTo>
                  <a:pt x="17892" y="624"/>
                  <a:pt x="18683" y="415"/>
                  <a:pt x="19328" y="248"/>
                </a:cubicBezTo>
                <a:cubicBezTo>
                  <a:pt x="19976" y="81"/>
                  <a:pt x="20336" y="0"/>
                  <a:pt x="20412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38092" tIns="38092" rIns="38092" bIns="38092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175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Rectangle 93"/>
          <p:cNvSpPr>
            <a:spLocks noChangeArrowheads="1"/>
          </p:cNvSpPr>
          <p:nvPr/>
        </p:nvSpPr>
        <p:spPr bwMode="auto">
          <a:xfrm>
            <a:off x="448310" y="201930"/>
            <a:ext cx="4887595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2800" b="1" u="sng">
                <a:solidFill>
                  <a:srgbClr val="FF0000"/>
                </a:solidFill>
                <a:sym typeface="+mn-ea"/>
              </a:rPr>
              <a:t>Why AI/ML Stands Out</a:t>
            </a:r>
            <a:endParaRPr sz="2800" b="1" u="sng">
              <a:solidFill>
                <a:srgbClr val="FF0000"/>
              </a:solidFill>
              <a:sym typeface="+mn-ea"/>
            </a:endParaRPr>
          </a:p>
          <a:p>
            <a:pPr algn="l" eaLnBrk="1" hangingPunct="1"/>
            <a:r>
              <a:rPr lang="zh-CN" altLang="en-US" sz="28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sz="2800" b="1" u="sng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998720" y="2526665"/>
            <a:ext cx="1120775" cy="550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sz="1600" b="1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strengths:</a:t>
            </a:r>
            <a:endParaRPr lang="en-US" sz="1600" b="1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654800" y="2445385"/>
            <a:ext cx="1409700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KEY </a:t>
            </a:r>
            <a:endParaRPr lang="en-US" sz="1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STRENGHTS</a:t>
            </a:r>
            <a:endParaRPr lang="en-US" sz="1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val 92"/>
          <p:cNvSpPr/>
          <p:nvPr>
            <p:custDataLst>
              <p:tags r:id="rId10"/>
            </p:custDataLst>
          </p:nvPr>
        </p:nvSpPr>
        <p:spPr bwMode="auto">
          <a:xfrm>
            <a:off x="1014655" y="3978303"/>
            <a:ext cx="573881" cy="57388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04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0860" y="200660"/>
            <a:ext cx="504634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800" b="1" u="sng"/>
              <a:t>COMPANY COMPARISION:</a:t>
            </a:r>
            <a:endParaRPr lang="en-US" sz="1800" b="1" u="sng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446405" y="742950"/>
          <a:ext cx="8597900" cy="4399915"/>
        </p:xfrm>
        <a:graphic>
          <a:graphicData uri="http://schemas.openxmlformats.org/drawingml/2006/table">
            <a:tbl>
              <a:tblPr/>
              <a:tblGrid>
                <a:gridCol w="1719580"/>
                <a:gridCol w="1719580"/>
                <a:gridCol w="1719580"/>
                <a:gridCol w="1719580"/>
                <a:gridCol w="1719580"/>
              </a:tblGrid>
              <a:tr h="157480">
                <a:tc>
                  <a:txBody>
                    <a:bodyPr/>
                    <a:p>
                      <a:r>
                        <a:rPr lang="en-US" altLang="zh-CN" sz="800"/>
                        <a:t>Company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Skills Required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What They Focus On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How You Grow There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Why It’s Best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8650">
                <a:tc>
                  <a:txBody>
                    <a:bodyPr/>
                    <a:p>
                      <a:r>
                        <a:rPr lang="en-US" altLang="zh-CN" sz="800"/>
                        <a:t>Google / DeepMind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Strong maths, ML/DL, Python, TensorFlow, research mindset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LLMs, robotics, healthcare AI, reinforcement learning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Mentorship from top researchers, access to huge datasets, freedom to publish papers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No.1 in AI research, best place for innovation &amp; experiments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r>
                        <a:rPr lang="en-US" altLang="zh-CN" sz="800"/>
                        <a:t>OpenAI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PyTorch, NLP, transformer models, super strong problem-solving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Generative AI (GPT, DALL·E, Sora), AGI research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Direct work on cutting-edge models, fast-paced learning, massive compute resources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You literally work on the world’s most advanced AI models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805">
                <a:tc>
                  <a:txBody>
                    <a:bodyPr/>
                    <a:p>
                      <a:r>
                        <a:rPr lang="en-US" altLang="zh-CN" sz="800"/>
                        <a:t>Microsoft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ML, cloud (Azure), data engineering, good software skills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Applied AI, Copilot, Azure AI services, enterprise tools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Solid training, structured career growth, mentorship, real-world deployment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Balanced growth + stability + huge AI ecosystem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r>
                        <a:rPr lang="en-US" altLang="zh-CN" sz="800"/>
                        <a:t>Meta (Facebook)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PyTorch, NLP/CV, open-source skills, distributed systems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LLaMA models, social media AI, AR/VR, recommendation systems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ML bootcamps, open-source projects, huge datasets, mixed research + practical work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Best for mixing research + real-world impact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805">
                <a:tc>
                  <a:txBody>
                    <a:bodyPr/>
                    <a:p>
                      <a:r>
                        <a:rPr lang="en-US" altLang="zh-CN" sz="800"/>
                        <a:t>NVIDIA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C++, GPU programming basics, deep learning optimization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AI hardware, model optimization, robotics, autonomous systems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Learn how models run efficiently, deep technical ML expertise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Perfect for hardcore deep learning engineers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170">
                <a:tc>
                  <a:txBody>
                    <a:bodyPr/>
                    <a:p>
                      <a:r>
                        <a:rPr lang="en-US" altLang="zh-CN" sz="800"/>
                        <a:t>Amazon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ML, data engineering, cloud (AWS), problem solving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Alexa, automation, recommendation systems, retail AI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Hands-on ML with millions of users, great data pipelines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Best place to learn real-world ML + data at huge scale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170">
                <a:tc>
                  <a:txBody>
                    <a:bodyPr/>
                    <a:p>
                      <a:r>
                        <a:rPr lang="en-US" altLang="zh-CN" sz="800"/>
                        <a:t>Tesla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Python, computer vision, real-time AI, robotics, CV/DL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Self-driving cars, robotics (Optimus), automation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Fast-paced growth, hands-on projects, reinforcement learning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Best for practical applied AI in physical products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805">
                <a:tc>
                  <a:txBody>
                    <a:bodyPr/>
                    <a:p>
                      <a:r>
                        <a:rPr lang="en-US" altLang="zh-CN" sz="800"/>
                        <a:t>AI Startups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Full-stack ML, Python, deployment (Flask/FastAPI), data pipeline, versatility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Problem-solving, building products fast, end-to-end AI ownership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Learn everything: data → training → deployment, high responsibility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800"/>
                        <a:t>Fastest growth, most hands-on experience, quick promotions</a:t>
                      </a:r>
                      <a:endParaRPr lang="en-US" altLang="zh-CN" sz="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9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90345" y="1537970"/>
            <a:ext cx="2244725" cy="143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0" lvl="1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accent2"/>
                </a:solidFill>
                <a:sym typeface="+mn-ea"/>
              </a:rPr>
              <a:t> AI/ML offers strong growth, diverse roles, and high financial upside.</a:t>
            </a:r>
            <a:endParaRPr sz="1400">
              <a:solidFill>
                <a:schemeClr val="accent2"/>
              </a:solidFill>
              <a:sym typeface="+mn-ea"/>
            </a:endParaRPr>
          </a:p>
          <a:p>
            <a:pPr marL="0" lvl="1" algn="ctr">
              <a:lnSpc>
                <a:spcPct val="150000"/>
              </a:lnSpc>
            </a:pPr>
            <a:endParaRPr lang="en-US" altLang="zh-CN" sz="14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37" name="TextBox 9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21739" y="1537921"/>
            <a:ext cx="2017002" cy="266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2" tIns="41141" rIns="82282" bIns="41141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marL="0" lvl="1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accent2"/>
                </a:solidFill>
                <a:sym typeface="+mn-ea"/>
              </a:rPr>
              <a:t>Suggested next steps: learn math foundations, Python, build projects, participate in competitions, internships.</a:t>
            </a:r>
            <a:endParaRPr sz="1400">
              <a:solidFill>
                <a:schemeClr val="accent2"/>
              </a:solidFill>
              <a:sym typeface="+mn-ea"/>
            </a:endParaRPr>
          </a:p>
          <a:p>
            <a:pPr algn="ctr">
              <a:lnSpc>
                <a:spcPct val="150000"/>
              </a:lnSpc>
            </a:pPr>
            <a:endParaRPr lang="en-US" altLang="zh-CN" sz="14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Rectangle 93"/>
          <p:cNvSpPr>
            <a:spLocks noChangeArrowheads="1"/>
          </p:cNvSpPr>
          <p:nvPr/>
        </p:nvSpPr>
        <p:spPr bwMode="auto">
          <a:xfrm>
            <a:off x="448310" y="201930"/>
            <a:ext cx="5752465" cy="60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82" tIns="41141" rIns="82282" bIns="41141">
            <a:no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sz="2800" b="1" u="sng">
                <a:solidFill>
                  <a:schemeClr val="accent2"/>
                </a:solidFill>
                <a:sym typeface="+mn-ea"/>
              </a:rPr>
              <a:t>Conclusion &amp; Next Steps</a:t>
            </a:r>
            <a:endParaRPr sz="2800" b="1" u="sng">
              <a:solidFill>
                <a:schemeClr val="accent2"/>
              </a:solidFill>
              <a:sym typeface="+mn-ea"/>
            </a:endParaRPr>
          </a:p>
          <a:p>
            <a:pPr algn="l" eaLnBrk="1" hangingPunct="1"/>
            <a:r>
              <a:rPr lang="zh-CN" altLang="en-US" sz="28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sym typeface="Calibri" panose="020F0502020204030204" pitchFamily="34" charset="0"/>
              </a:rPr>
              <a:t>
</a:t>
            </a:r>
            <a:endParaRPr lang="zh-CN" altLang="en-US" sz="2800" b="1" u="sng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06120" y="1535430"/>
            <a:ext cx="4328160" cy="16262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5400" b="1" u="sng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THANK YOU</a:t>
            </a:r>
            <a:endParaRPr lang="en-US" altLang="zh-CN" sz="5400" b="1" u="sng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2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3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4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5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6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7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8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9.xml><?xml version="1.0" encoding="utf-8"?>
<p:tagLst xmlns:p="http://schemas.openxmlformats.org/presentationml/2006/main">
  <p:tag name="KSO_WM_DIAGRAM_VIRTUALLY_FRAME" val="{&quot;height&quot;:277.0111023622047,&quot;left&quot;:366.8006299212598,&quot;top&quot;:68.40220472440944,&quot;width&quot;:318.78653543307087}"/>
</p:tagLst>
</file>

<file path=ppt/tags/tag10.xml><?xml version="1.0" encoding="utf-8"?>
<p:tagLst xmlns:p="http://schemas.openxmlformats.org/presentationml/2006/main">
  <p:tag name="TABLE_ENDDRAG_ORIGIN_RECT" val="648*332"/>
  <p:tag name="TABLE_ENDDRAG_RECT" val="35*68*648*332"/>
</p:tagLst>
</file>

<file path=ppt/tags/tag11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2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3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4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5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6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7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8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19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20.xml><?xml version="1.0" encoding="utf-8"?>
<p:tagLst xmlns:p="http://schemas.openxmlformats.org/presentationml/2006/main">
  <p:tag name="KSO_WM_DIAGRAM_VIRTUALLY_FRAME" val="{&quot;height&quot;:230.33228346456684,&quot;left&quot;:79.65968503937007,&quot;top&quot;:107.8312598425197,&quot;width&quot;:275.44543307086616}"/>
</p:tagLst>
</file>

<file path=ppt/tags/tag21.xml><?xml version="1.0" encoding="utf-8"?>
<p:tagLst xmlns:p="http://schemas.openxmlformats.org/presentationml/2006/main">
  <p:tag name="TABLE_ENDDRAG_ORIGIN_RECT" val="676*346"/>
  <p:tag name="TABLE_ENDDRAG_RECT" val="35*58*676*346"/>
</p:tagLst>
</file>

<file path=ppt/tags/tag22.xml><?xml version="1.0" encoding="utf-8"?>
<p:tagLst xmlns:p="http://schemas.openxmlformats.org/presentationml/2006/main">
  <p:tag name="KSO_WM_DIAGRAM_VIRTUALLY_FRAME" val="{&quot;height&quot;:125.62826771653542,&quot;left&quot;:62.766299212598426,&quot;top&quot;:142.30921259842518,&quot;width&quot;:597.3102362204723}"/>
</p:tagLst>
</file>

<file path=ppt/tags/tag23.xml><?xml version="1.0" encoding="utf-8"?>
<p:tagLst xmlns:p="http://schemas.openxmlformats.org/presentationml/2006/main">
  <p:tag name="KSO_WM_DIAGRAM_VIRTUALLY_FRAME" val="{&quot;height&quot;:125.62826771653542,&quot;left&quot;:62.766299212598426,&quot;top&quot;:142.30921259842518,&quot;width&quot;:597.3102362204723}"/>
</p:tagLst>
</file>

<file path=ppt/theme/theme1.xml><?xml version="1.0" encoding="utf-8"?>
<a:theme xmlns:a="http://schemas.openxmlformats.org/drawingml/2006/main" name="Office Theme">
  <a:themeElements>
    <a:clrScheme name="自定义 892">
      <a:dk1>
        <a:srgbClr val="7F7F7F"/>
      </a:dk1>
      <a:lt1>
        <a:srgbClr val="FFFFFF"/>
      </a:lt1>
      <a:dk2>
        <a:srgbClr val="494B4E"/>
      </a:dk2>
      <a:lt2>
        <a:srgbClr val="FFFFFF"/>
      </a:lt2>
      <a:accent1>
        <a:srgbClr val="494B4E"/>
      </a:accent1>
      <a:accent2>
        <a:srgbClr val="000000"/>
      </a:accent2>
      <a:accent3>
        <a:srgbClr val="4B5050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标准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4690</Words>
  <Application>WPS Presentation</Application>
  <PresentationFormat>全屏显示(16:9)</PresentationFormat>
  <Paragraphs>333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Times New Roman</vt:lpstr>
      <vt:lpstr>Calibri Light</vt:lpstr>
      <vt:lpstr>方正宋刻本秀楷简体</vt:lpstr>
      <vt:lpstr>Lato Light</vt:lpstr>
      <vt:lpstr>Segoe Print</vt:lpstr>
      <vt:lpstr>MS PGothic</vt:lpstr>
      <vt:lpstr>Algerian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Eric羊</dc:creator>
  <cp:lastModifiedBy>manohar dolare</cp:lastModifiedBy>
  <cp:revision>91</cp:revision>
  <dcterms:created xsi:type="dcterms:W3CDTF">2017-05-02T06:39:00Z</dcterms:created>
  <dcterms:modified xsi:type="dcterms:W3CDTF">2025-11-17T07:32:30Z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AF7EE3DB3D3643C4980A29740248922A_13</vt:lpwstr>
  </property>
</Properties>
</file>